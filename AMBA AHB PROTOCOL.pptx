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5" r:id="rId8"/>
    <p:sldId id="262" r:id="rId9"/>
    <p:sldId id="263"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311631-6C1D-481A-BB06-B4ADC5F5D1F9}">
          <p14:sldIdLst>
            <p14:sldId id="256"/>
            <p14:sldId id="257"/>
            <p14:sldId id="258"/>
            <p14:sldId id="259"/>
            <p14:sldId id="260"/>
            <p14:sldId id="261"/>
            <p14:sldId id="275"/>
            <p14:sldId id="262"/>
            <p14:sldId id="263"/>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D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57B617-D7DC-4D06-93BA-C798CB5CFD36}" v="89" dt="2026-06-02T17:35:50.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p:scale>
          <a:sx n="75" d="100"/>
          <a:sy n="75" d="100"/>
        </p:scale>
        <p:origin x="974" y="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17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0A16-516D-9C9A-91F4-D368BE50CB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0A81BF-F79D-9D53-2E32-A31E3A15B8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0FB416-A992-40E4-1EDC-3EE9C6548E6C}"/>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5" name="Footer Placeholder 4">
            <a:extLst>
              <a:ext uri="{FF2B5EF4-FFF2-40B4-BE49-F238E27FC236}">
                <a16:creationId xmlns:a16="http://schemas.microsoft.com/office/drawing/2014/main" id="{8C5BE9EE-C225-B150-C8FE-62357A9C10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DF7AA8-E011-F2CE-ECEF-B97C2A6C712B}"/>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3631415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3FE46-FC08-608F-4B20-2545AFEEC5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836D28-8FC7-91BB-E91F-6245CFF53B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F9692A-072A-717A-0115-F829DF519F72}"/>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5" name="Footer Placeholder 4">
            <a:extLst>
              <a:ext uri="{FF2B5EF4-FFF2-40B4-BE49-F238E27FC236}">
                <a16:creationId xmlns:a16="http://schemas.microsoft.com/office/drawing/2014/main" id="{8AE76DBA-454C-F1DB-249C-89D034541F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8A368-6188-E843-E14C-FA0B22FF7DAB}"/>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3598795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5E15-7FFA-83B4-BA5A-F16BDCE517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865323-7546-C652-F186-3E28A5C474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862267-B134-F5F5-0103-C5CDC090E09D}"/>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5" name="Footer Placeholder 4">
            <a:extLst>
              <a:ext uri="{FF2B5EF4-FFF2-40B4-BE49-F238E27FC236}">
                <a16:creationId xmlns:a16="http://schemas.microsoft.com/office/drawing/2014/main" id="{248E46A0-3048-F859-1E17-EE5173D178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AFE7AF-C775-F48C-39A0-B14A1080BA8C}"/>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74898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291AA-766D-440B-5B62-3861FF8C67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4EDD19-2AD8-B730-90D4-B4B2DF8DE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7F3157-E5F5-051F-607B-D4B00A3131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BE31D8-FDD5-F55F-D5CB-59CD25515BE1}"/>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6" name="Footer Placeholder 5">
            <a:extLst>
              <a:ext uri="{FF2B5EF4-FFF2-40B4-BE49-F238E27FC236}">
                <a16:creationId xmlns:a16="http://schemas.microsoft.com/office/drawing/2014/main" id="{1C6EB47F-F49B-6AA9-4D1B-7515FDD95F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FA4216-EA5A-FC27-456F-1383DEFF0006}"/>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425343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C20EB-2857-1B1D-EF75-3083F375DC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AE494A-0194-84BF-6A52-A4CD547CA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1ABF8-0B96-A9E1-4AFE-367D14E086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601C42-C120-E879-0ECC-16B93D2413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69C080-0EC9-D159-2FDE-C9478E0A74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77B0BAD-E3AE-F8E3-3181-E4EFB8827B0B}"/>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8" name="Footer Placeholder 7">
            <a:extLst>
              <a:ext uri="{FF2B5EF4-FFF2-40B4-BE49-F238E27FC236}">
                <a16:creationId xmlns:a16="http://schemas.microsoft.com/office/drawing/2014/main" id="{17A6B601-79BB-19B7-F120-FA57E08090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A853B4-229A-564A-EED9-84077A900510}"/>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294093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19B2B-839E-9427-397B-F9E5A47AE8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AEE054-EA8F-47F8-11CA-D31D1041689C}"/>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4" name="Footer Placeholder 3">
            <a:extLst>
              <a:ext uri="{FF2B5EF4-FFF2-40B4-BE49-F238E27FC236}">
                <a16:creationId xmlns:a16="http://schemas.microsoft.com/office/drawing/2014/main" id="{33B5F3CC-133A-13DD-6DA7-1A6655A41B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859425-4570-5DCA-40A0-BD296334228F}"/>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4036694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4DAD6A-B728-DD89-D799-CDAC38C49FEB}"/>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3" name="Footer Placeholder 2">
            <a:extLst>
              <a:ext uri="{FF2B5EF4-FFF2-40B4-BE49-F238E27FC236}">
                <a16:creationId xmlns:a16="http://schemas.microsoft.com/office/drawing/2014/main" id="{B89EF1CD-B35A-80B2-0AA2-22719646BE7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5FC0F0-F0C7-0CF1-BA05-C275378897CA}"/>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3967761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97E99-5934-873D-7DDC-92C8616443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BD491E-8EC6-FD68-1516-883A519F45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3D0A64-B003-0E39-F6EF-FA43FE680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55E2BB-4051-B96C-9050-0044873E21CC}"/>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6" name="Footer Placeholder 5">
            <a:extLst>
              <a:ext uri="{FF2B5EF4-FFF2-40B4-BE49-F238E27FC236}">
                <a16:creationId xmlns:a16="http://schemas.microsoft.com/office/drawing/2014/main" id="{DA70E1B5-FBD0-37BC-6CA2-660FAE3DAC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4B42E5-5FE3-D887-FA22-40B70564A661}"/>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33426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90008-B2AF-45A2-80D2-06B620BFD5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D86C81-EA03-0DA5-DA69-9363A04D2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F02F06-2F7A-E7E9-542D-50F3584390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55DD7-2B0F-9DCB-94C1-8542B77BD5C3}"/>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6" name="Footer Placeholder 5">
            <a:extLst>
              <a:ext uri="{FF2B5EF4-FFF2-40B4-BE49-F238E27FC236}">
                <a16:creationId xmlns:a16="http://schemas.microsoft.com/office/drawing/2014/main" id="{CE7C5471-42C3-B918-0218-97AD76747E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279474-E8E5-0713-86AC-E2870B7F12BD}"/>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3060870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4A2C6-13C4-9B01-5DB9-B865435D98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EF4199-A035-6DD8-88B6-41AD61BF6E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06D413-2AB8-6C56-2E42-6178B8A89D47}"/>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5" name="Footer Placeholder 4">
            <a:extLst>
              <a:ext uri="{FF2B5EF4-FFF2-40B4-BE49-F238E27FC236}">
                <a16:creationId xmlns:a16="http://schemas.microsoft.com/office/drawing/2014/main" id="{FB171206-A551-526B-7D1E-052B325F0C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F777B6-9AB0-13EA-FE45-6C20093AD544}"/>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3412391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8B6B47-71B2-1110-6F6A-B47C58A56E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BF75DC-FAAB-514F-84E6-BA044AC871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CB1D7E-8E5A-B3C3-EFDE-87623FBB9CF2}"/>
              </a:ext>
            </a:extLst>
          </p:cNvPr>
          <p:cNvSpPr>
            <a:spLocks noGrp="1"/>
          </p:cNvSpPr>
          <p:nvPr>
            <p:ph type="dt" sz="half" idx="10"/>
          </p:nvPr>
        </p:nvSpPr>
        <p:spPr/>
        <p:txBody>
          <a:bodyPr/>
          <a:lstStyle/>
          <a:p>
            <a:fld id="{6BC2662E-DD7D-4430-9527-414D0015EE3F}" type="datetimeFigureOut">
              <a:rPr lang="en-IN" smtClean="0"/>
              <a:t>01-06-2026</a:t>
            </a:fld>
            <a:endParaRPr lang="en-IN"/>
          </a:p>
        </p:txBody>
      </p:sp>
      <p:sp>
        <p:nvSpPr>
          <p:cNvPr id="5" name="Footer Placeholder 4">
            <a:extLst>
              <a:ext uri="{FF2B5EF4-FFF2-40B4-BE49-F238E27FC236}">
                <a16:creationId xmlns:a16="http://schemas.microsoft.com/office/drawing/2014/main" id="{68D1498E-2A9A-B5BA-11DA-EA7C74FBED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ACE940-116E-4018-4BD5-D6A8B7C06066}"/>
              </a:ext>
            </a:extLst>
          </p:cNvPr>
          <p:cNvSpPr>
            <a:spLocks noGrp="1"/>
          </p:cNvSpPr>
          <p:nvPr>
            <p:ph type="sldNum" sz="quarter" idx="12"/>
          </p:nvPr>
        </p:nvSpPr>
        <p:spPr/>
        <p:txBody>
          <a:bodyPr/>
          <a:lstStyle/>
          <a:p>
            <a:fld id="{69F28204-541E-4CCB-8F6D-4665057692A6}" type="slidenum">
              <a:rPr lang="en-IN" smtClean="0"/>
              <a:t>‹#›</a:t>
            </a:fld>
            <a:endParaRPr lang="en-IN"/>
          </a:p>
        </p:txBody>
      </p:sp>
    </p:spTree>
    <p:extLst>
      <p:ext uri="{BB962C8B-B14F-4D97-AF65-F5344CB8AC3E}">
        <p14:creationId xmlns:p14="http://schemas.microsoft.com/office/powerpoint/2010/main" val="19522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DABDCA-F9FB-F479-9240-413C82364F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50CDB6-3075-5FA7-2C3D-F4D2AEE782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030FF7-8E57-4F1B-8F87-4F54AAEDF0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2662E-DD7D-4430-9527-414D0015EE3F}" type="datetimeFigureOut">
              <a:rPr lang="en-IN" smtClean="0"/>
              <a:t>01-06-2026</a:t>
            </a:fld>
            <a:endParaRPr lang="en-IN"/>
          </a:p>
        </p:txBody>
      </p:sp>
      <p:sp>
        <p:nvSpPr>
          <p:cNvPr id="5" name="Footer Placeholder 4">
            <a:extLst>
              <a:ext uri="{FF2B5EF4-FFF2-40B4-BE49-F238E27FC236}">
                <a16:creationId xmlns:a16="http://schemas.microsoft.com/office/drawing/2014/main" id="{310DB1B9-7722-BC09-7356-CDACA06128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9C8F0C3-79CE-C766-7E52-00F41200EF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F28204-541E-4CCB-8F6D-4665057692A6}" type="slidenum">
              <a:rPr lang="en-IN" smtClean="0"/>
              <a:t>‹#›</a:t>
            </a:fld>
            <a:endParaRPr lang="en-IN"/>
          </a:p>
        </p:txBody>
      </p:sp>
    </p:spTree>
    <p:extLst>
      <p:ext uri="{BB962C8B-B14F-4D97-AF65-F5344CB8AC3E}">
        <p14:creationId xmlns:p14="http://schemas.microsoft.com/office/powerpoint/2010/main" val="217187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9049D-2552-05D1-E8C9-7F8DC8A348A0}"/>
              </a:ext>
            </a:extLst>
          </p:cNvPr>
          <p:cNvSpPr>
            <a:spLocks noGrp="1"/>
          </p:cNvSpPr>
          <p:nvPr>
            <p:ph type="ctrTitle"/>
          </p:nvPr>
        </p:nvSpPr>
        <p:spPr>
          <a:xfrm>
            <a:off x="1524000" y="1366684"/>
            <a:ext cx="9144000" cy="2143279"/>
          </a:xfrm>
        </p:spPr>
        <p:txBody>
          <a:bodyPr>
            <a:normAutofit/>
          </a:bodyPr>
          <a:lstStyle/>
          <a:p>
            <a:r>
              <a:rPr lang="en-IN" dirty="0">
                <a:solidFill>
                  <a:srgbClr val="002060"/>
                </a:solidFill>
              </a:rPr>
              <a:t>AMBA AHB PROTOCOL : </a:t>
            </a:r>
            <a:br>
              <a:rPr lang="en-IN" dirty="0">
                <a:solidFill>
                  <a:srgbClr val="002060"/>
                </a:solidFill>
              </a:rPr>
            </a:br>
            <a:r>
              <a:rPr lang="en-IN" dirty="0">
                <a:solidFill>
                  <a:srgbClr val="002060"/>
                </a:solidFill>
              </a:rPr>
              <a:t>Tri-Slave Interconnect Design</a:t>
            </a:r>
          </a:p>
        </p:txBody>
      </p:sp>
      <p:sp>
        <p:nvSpPr>
          <p:cNvPr id="3" name="Subtitle 2">
            <a:extLst>
              <a:ext uri="{FF2B5EF4-FFF2-40B4-BE49-F238E27FC236}">
                <a16:creationId xmlns:a16="http://schemas.microsoft.com/office/drawing/2014/main" id="{327BF8F7-80F6-C082-BE9D-14F04769CCDC}"/>
              </a:ext>
            </a:extLst>
          </p:cNvPr>
          <p:cNvSpPr>
            <a:spLocks noGrp="1"/>
          </p:cNvSpPr>
          <p:nvPr>
            <p:ph type="subTitle" idx="1"/>
          </p:nvPr>
        </p:nvSpPr>
        <p:spPr/>
        <p:txBody>
          <a:bodyPr>
            <a:normAutofit lnSpcReduction="10000"/>
          </a:bodyPr>
          <a:lstStyle/>
          <a:p>
            <a:pPr algn="l"/>
            <a:r>
              <a:rPr lang="en-IN" dirty="0"/>
              <a:t>NAME: Pratyush Ojha</a:t>
            </a:r>
          </a:p>
          <a:p>
            <a:pPr algn="l"/>
            <a:r>
              <a:rPr lang="en-IN" dirty="0"/>
              <a:t>INSTITUTE: Motilal Nehru National Institute of Technology Allahabad</a:t>
            </a:r>
          </a:p>
          <a:p>
            <a:pPr algn="l"/>
            <a:r>
              <a:rPr lang="en-IN" dirty="0"/>
              <a:t>GOAL: To increase performance by reducing extra clock cycle delay after every burst and minimize memory wastage.</a:t>
            </a:r>
          </a:p>
          <a:p>
            <a:pPr algn="r"/>
            <a:endParaRPr lang="en-IN" dirty="0"/>
          </a:p>
        </p:txBody>
      </p:sp>
    </p:spTree>
    <p:extLst>
      <p:ext uri="{BB962C8B-B14F-4D97-AF65-F5344CB8AC3E}">
        <p14:creationId xmlns:p14="http://schemas.microsoft.com/office/powerpoint/2010/main" val="1833409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7CBDC-4723-3650-DE8E-AED98A23EA20}"/>
              </a:ext>
            </a:extLst>
          </p:cNvPr>
          <p:cNvSpPr>
            <a:spLocks noGrp="1"/>
          </p:cNvSpPr>
          <p:nvPr>
            <p:ph type="title"/>
          </p:nvPr>
        </p:nvSpPr>
        <p:spPr/>
        <p:txBody>
          <a:bodyPr>
            <a:normAutofit/>
          </a:bodyPr>
          <a:lstStyle/>
          <a:p>
            <a:r>
              <a:rPr lang="en-US" sz="2800" dirty="0"/>
              <a:t>Context: SoC designs require standardized communication as complexity grows.</a:t>
            </a:r>
            <a:endParaRPr lang="en-IN" sz="2800" dirty="0"/>
          </a:p>
        </p:txBody>
      </p:sp>
      <p:sp>
        <p:nvSpPr>
          <p:cNvPr id="3" name="Content Placeholder 2">
            <a:extLst>
              <a:ext uri="{FF2B5EF4-FFF2-40B4-BE49-F238E27FC236}">
                <a16:creationId xmlns:a16="http://schemas.microsoft.com/office/drawing/2014/main" id="{FE887B79-E374-C31D-7099-6F4B9C72BE9F}"/>
              </a:ext>
            </a:extLst>
          </p:cNvPr>
          <p:cNvSpPr>
            <a:spLocks noGrp="1"/>
          </p:cNvSpPr>
          <p:nvPr>
            <p:ph idx="1"/>
          </p:nvPr>
        </p:nvSpPr>
        <p:spPr>
          <a:xfrm>
            <a:off x="838200" y="1690687"/>
            <a:ext cx="10515600" cy="4218499"/>
          </a:xfrm>
        </p:spPr>
        <p:txBody>
          <a:bodyPr>
            <a:noAutofit/>
          </a:bodyPr>
          <a:lstStyle/>
          <a:p>
            <a:r>
              <a:rPr lang="en-US" sz="2000" dirty="0"/>
              <a:t>In the early days of electronics, chips were very simple. You had a processor and a memory, and you just connected them together. It was like teaching a single student—you just look at them and talk. </a:t>
            </a:r>
          </a:p>
          <a:p>
            <a:r>
              <a:rPr lang="en-US" sz="2000" dirty="0"/>
              <a:t>But modern SoCs contain a CPU, a GPU, a USB controller, RAM, and hardware accelerators(hardware accelerator is a dedicated block of silicon where the physical logic gates (AND, OR, XOR) are hardwired to solve one specific mathematical algorithm perfectly) all crammed onto a single piece of silicon. Now, you aren't tutoring one student; you are managing an entire lecture hall of 300 students. If everyone tries to talk at once, or if you don't have a strict set of rules for how to raise hands and take turns, the entire system collapses into chaos. As the chip gets more complex, you absolutely must have a standardized rulebook for communication.</a:t>
            </a:r>
          </a:p>
          <a:p>
            <a:r>
              <a:rPr lang="en-US" sz="2000" dirty="0"/>
              <a:t>An AHB connection isn't just one wire. It is a 32-bit Address bus, a 32-bit Write Data bus, a 32-bit Read Data bus, plus control signals. That is roughly 100 physical microscopic copper wires. If the Master hardwires to 3 slaves, the Master suddenly needs </a:t>
            </a:r>
            <a:r>
              <a:rPr lang="en-US" sz="2000" b="1" dirty="0"/>
              <a:t>300 physical pins</a:t>
            </a:r>
            <a:r>
              <a:rPr lang="en-US" sz="2000" dirty="0"/>
              <a:t> just to connect to them. </a:t>
            </a:r>
            <a:endParaRPr lang="en-IN" sz="2000" dirty="0"/>
          </a:p>
        </p:txBody>
      </p:sp>
    </p:spTree>
    <p:extLst>
      <p:ext uri="{BB962C8B-B14F-4D97-AF65-F5344CB8AC3E}">
        <p14:creationId xmlns:p14="http://schemas.microsoft.com/office/powerpoint/2010/main" val="870821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57844-514C-804F-9691-2B0993D332BA}"/>
              </a:ext>
            </a:extLst>
          </p:cNvPr>
          <p:cNvSpPr>
            <a:spLocks noGrp="1"/>
          </p:cNvSpPr>
          <p:nvPr>
            <p:ph type="title"/>
          </p:nvPr>
        </p:nvSpPr>
        <p:spPr/>
        <p:txBody>
          <a:bodyPr>
            <a:normAutofit/>
          </a:bodyPr>
          <a:lstStyle/>
          <a:p>
            <a:r>
              <a:rPr lang="en-US" sz="2800" dirty="0"/>
              <a:t>The Solution: AMBA AHB centralizes the routing using a master-slave contract, decoders, and multiplexers</a:t>
            </a:r>
            <a:r>
              <a:rPr lang="en-US" sz="3200" dirty="0"/>
              <a:t>.</a:t>
            </a:r>
            <a:endParaRPr lang="en-IN" sz="3200" dirty="0"/>
          </a:p>
        </p:txBody>
      </p:sp>
      <p:sp>
        <p:nvSpPr>
          <p:cNvPr id="3" name="Content Placeholder 2">
            <a:extLst>
              <a:ext uri="{FF2B5EF4-FFF2-40B4-BE49-F238E27FC236}">
                <a16:creationId xmlns:a16="http://schemas.microsoft.com/office/drawing/2014/main" id="{FCFE6C21-9F36-85D0-E8FF-2BE16E4C5D72}"/>
              </a:ext>
            </a:extLst>
          </p:cNvPr>
          <p:cNvSpPr>
            <a:spLocks noGrp="1"/>
          </p:cNvSpPr>
          <p:nvPr>
            <p:ph idx="1"/>
          </p:nvPr>
        </p:nvSpPr>
        <p:spPr/>
        <p:txBody>
          <a:bodyPr>
            <a:normAutofit/>
          </a:bodyPr>
          <a:lstStyle/>
          <a:p>
            <a:r>
              <a:rPr lang="en-US" sz="2000" b="1" dirty="0"/>
              <a:t>The Master's Pin Count Drops: </a:t>
            </a:r>
            <a:r>
              <a:rPr lang="en-US" sz="2000" dirty="0"/>
              <a:t>Master is the main module which access data from other small modules(Slaves) which have purpose to collect data and store them till they have power supply. The Master needs one set of </a:t>
            </a:r>
            <a:r>
              <a:rPr lang="en-US" sz="2000" dirty="0" err="1"/>
              <a:t>approx</a:t>
            </a:r>
            <a:r>
              <a:rPr lang="en-US" sz="2000" dirty="0"/>
              <a:t> 100 pins because it get access of slaves with help of decoder and multiplexer.</a:t>
            </a:r>
          </a:p>
          <a:p>
            <a:r>
              <a:rPr lang="en-US" sz="2000" b="1" dirty="0"/>
              <a:t>The Decoder :</a:t>
            </a:r>
            <a:r>
              <a:rPr lang="en-US" sz="2000" dirty="0"/>
              <a:t> When the Master sends out an Address (e.g. 128), the Decoder acts as the post office. It reads the address, realizes it belongs to Slave 2, and flips the HSEL_2 switch to wake up only Slave 2.</a:t>
            </a:r>
          </a:p>
          <a:p>
            <a:r>
              <a:rPr lang="en-US" sz="2000" b="1" dirty="0"/>
              <a:t>The Multiplexer: </a:t>
            </a:r>
            <a:r>
              <a:rPr lang="en-US" sz="2000" dirty="0"/>
              <a:t>When the Slaves send their data back, the MUX ensures that only Slave 2's data is allowed to enter the Master's receiving lane. It physically blocks the other slaves from causing a collision.</a:t>
            </a:r>
          </a:p>
          <a:p>
            <a:r>
              <a:rPr lang="en-US" sz="2000" b="1" dirty="0"/>
              <a:t>The Contract:</a:t>
            </a:r>
            <a:r>
              <a:rPr lang="en-US" sz="2000" dirty="0"/>
              <a:t> The protocol provides strict rules (like the NONSEQ -&gt; SEQ bursts and pipeline delays you coded) so that every module knows exactly when to read and when to write.</a:t>
            </a:r>
            <a:endParaRPr lang="en-IN" sz="2000" dirty="0"/>
          </a:p>
        </p:txBody>
      </p:sp>
    </p:spTree>
    <p:extLst>
      <p:ext uri="{BB962C8B-B14F-4D97-AF65-F5344CB8AC3E}">
        <p14:creationId xmlns:p14="http://schemas.microsoft.com/office/powerpoint/2010/main" val="16936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25B4F-9443-34E7-7CE5-B4A0A7AD2987}"/>
              </a:ext>
            </a:extLst>
          </p:cNvPr>
          <p:cNvSpPr>
            <a:spLocks noGrp="1"/>
          </p:cNvSpPr>
          <p:nvPr>
            <p:ph type="title"/>
          </p:nvPr>
        </p:nvSpPr>
        <p:spPr>
          <a:xfrm>
            <a:off x="838200" y="6916"/>
            <a:ext cx="10515600" cy="1325563"/>
          </a:xfrm>
        </p:spPr>
        <p:txBody>
          <a:bodyPr>
            <a:normAutofit/>
          </a:bodyPr>
          <a:lstStyle/>
          <a:p>
            <a:pPr algn="ctr"/>
            <a:r>
              <a:rPr lang="en-IN" dirty="0"/>
              <a:t>Tri-Slave Architecture</a:t>
            </a:r>
          </a:p>
        </p:txBody>
      </p:sp>
      <p:sp>
        <p:nvSpPr>
          <p:cNvPr id="38" name="Rectangle 37">
            <a:extLst>
              <a:ext uri="{FF2B5EF4-FFF2-40B4-BE49-F238E27FC236}">
                <a16:creationId xmlns:a16="http://schemas.microsoft.com/office/drawing/2014/main" id="{88FB1A32-337E-D0E6-303F-C80DE6974DEE}"/>
              </a:ext>
            </a:extLst>
          </p:cNvPr>
          <p:cNvSpPr/>
          <p:nvPr/>
        </p:nvSpPr>
        <p:spPr>
          <a:xfrm>
            <a:off x="1227757" y="1332479"/>
            <a:ext cx="2418736" cy="4822515"/>
          </a:xfrm>
          <a:prstGeom prst="rect">
            <a:avLst/>
          </a:prstGeom>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MASTER</a:t>
            </a:r>
          </a:p>
          <a:p>
            <a:pPr algn="ctr"/>
            <a:r>
              <a:rPr lang="en-IN" dirty="0"/>
              <a:t>(Manager)</a:t>
            </a:r>
          </a:p>
        </p:txBody>
      </p:sp>
      <p:sp>
        <p:nvSpPr>
          <p:cNvPr id="39" name="Rectangle 38">
            <a:extLst>
              <a:ext uri="{FF2B5EF4-FFF2-40B4-BE49-F238E27FC236}">
                <a16:creationId xmlns:a16="http://schemas.microsoft.com/office/drawing/2014/main" id="{26CF1E37-08C2-81F4-A412-3B35E803AEDF}"/>
              </a:ext>
            </a:extLst>
          </p:cNvPr>
          <p:cNvSpPr/>
          <p:nvPr/>
        </p:nvSpPr>
        <p:spPr>
          <a:xfrm>
            <a:off x="8288595" y="1332479"/>
            <a:ext cx="2497393" cy="796413"/>
          </a:xfrm>
          <a:prstGeom prst="rect">
            <a:avLst/>
          </a:prstGeom>
          <a:scene3d>
            <a:camera prst="orthographicFront"/>
            <a:lightRig rig="threePt" dir="t"/>
          </a:scene3d>
          <a:sp3d>
            <a:bevelT prst="angle"/>
          </a:sp3d>
        </p:spPr>
        <p:style>
          <a:lnRef idx="3">
            <a:schemeClr val="lt1"/>
          </a:lnRef>
          <a:fillRef idx="1">
            <a:schemeClr val="accent6"/>
          </a:fillRef>
          <a:effectRef idx="1">
            <a:schemeClr val="accent6"/>
          </a:effectRef>
          <a:fontRef idx="minor">
            <a:schemeClr val="lt1"/>
          </a:fontRef>
        </p:style>
        <p:txBody>
          <a:bodyPr rtlCol="0" anchor="ctr"/>
          <a:lstStyle/>
          <a:p>
            <a:pPr algn="ctr"/>
            <a:r>
              <a:rPr lang="en-IN" dirty="0"/>
              <a:t>SLAVE_1(subordinate_1)</a:t>
            </a:r>
          </a:p>
        </p:txBody>
      </p:sp>
      <p:sp>
        <p:nvSpPr>
          <p:cNvPr id="40" name="Rectangle 39">
            <a:extLst>
              <a:ext uri="{FF2B5EF4-FFF2-40B4-BE49-F238E27FC236}">
                <a16:creationId xmlns:a16="http://schemas.microsoft.com/office/drawing/2014/main" id="{A2ABC521-0E1C-18A4-1FBB-CA4699331CFC}"/>
              </a:ext>
            </a:extLst>
          </p:cNvPr>
          <p:cNvSpPr/>
          <p:nvPr/>
        </p:nvSpPr>
        <p:spPr>
          <a:xfrm>
            <a:off x="8288593" y="4237911"/>
            <a:ext cx="2497393" cy="796413"/>
          </a:xfrm>
          <a:prstGeom prst="rect">
            <a:avLst/>
          </a:prstGeom>
          <a:scene3d>
            <a:camera prst="orthographicFront"/>
            <a:lightRig rig="threePt" dir="t"/>
          </a:scene3d>
          <a:sp3d>
            <a:bevelT prst="angle"/>
          </a:sp3d>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a:p>
            <a:pPr algn="ctr"/>
            <a:r>
              <a:rPr lang="en-IN" dirty="0"/>
              <a:t>SLAVE_3(subordinate_3)</a:t>
            </a:r>
          </a:p>
          <a:p>
            <a:pPr algn="ctr"/>
            <a:endParaRPr lang="en-IN" dirty="0"/>
          </a:p>
        </p:txBody>
      </p:sp>
      <p:sp>
        <p:nvSpPr>
          <p:cNvPr id="41" name="Rectangle 40">
            <a:extLst>
              <a:ext uri="{FF2B5EF4-FFF2-40B4-BE49-F238E27FC236}">
                <a16:creationId xmlns:a16="http://schemas.microsoft.com/office/drawing/2014/main" id="{AFA68476-0224-CA61-E21A-45D8D2ECEBF0}"/>
              </a:ext>
            </a:extLst>
          </p:cNvPr>
          <p:cNvSpPr/>
          <p:nvPr/>
        </p:nvSpPr>
        <p:spPr>
          <a:xfrm>
            <a:off x="8288594" y="2785195"/>
            <a:ext cx="2497393" cy="796413"/>
          </a:xfrm>
          <a:prstGeom prst="rect">
            <a:avLst/>
          </a:prstGeom>
          <a:scene3d>
            <a:camera prst="orthographicFront"/>
            <a:lightRig rig="threePt" dir="t"/>
          </a:scene3d>
          <a:sp3d>
            <a:bevelT prst="angle"/>
          </a:sp3d>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a:p>
            <a:pPr algn="ctr"/>
            <a:r>
              <a:rPr lang="en-IN" dirty="0"/>
              <a:t>SLAVE_2(subordinate_2)</a:t>
            </a:r>
          </a:p>
          <a:p>
            <a:pPr algn="ctr"/>
            <a:endParaRPr lang="en-IN" dirty="0"/>
          </a:p>
        </p:txBody>
      </p:sp>
      <p:sp>
        <p:nvSpPr>
          <p:cNvPr id="50" name="Rectangle 49">
            <a:extLst>
              <a:ext uri="{FF2B5EF4-FFF2-40B4-BE49-F238E27FC236}">
                <a16:creationId xmlns:a16="http://schemas.microsoft.com/office/drawing/2014/main" id="{0CE55D6B-99E0-196C-7B96-729A38666878}"/>
              </a:ext>
            </a:extLst>
          </p:cNvPr>
          <p:cNvSpPr/>
          <p:nvPr/>
        </p:nvSpPr>
        <p:spPr>
          <a:xfrm>
            <a:off x="4926603" y="2680933"/>
            <a:ext cx="1380509" cy="1266621"/>
          </a:xfrm>
          <a:prstGeom prst="rect">
            <a:avLst/>
          </a:prstGeom>
          <a:solidFill>
            <a:srgbClr val="DAAD2E"/>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Decoder</a:t>
            </a:r>
          </a:p>
        </p:txBody>
      </p:sp>
      <p:sp>
        <p:nvSpPr>
          <p:cNvPr id="55" name="TextBox 54">
            <a:extLst>
              <a:ext uri="{FF2B5EF4-FFF2-40B4-BE49-F238E27FC236}">
                <a16:creationId xmlns:a16="http://schemas.microsoft.com/office/drawing/2014/main" id="{072753F7-8591-CE4D-8F30-4D459EA1B92C}"/>
              </a:ext>
            </a:extLst>
          </p:cNvPr>
          <p:cNvSpPr txBox="1"/>
          <p:nvPr/>
        </p:nvSpPr>
        <p:spPr>
          <a:xfrm>
            <a:off x="3678012" y="1163990"/>
            <a:ext cx="1834021" cy="369332"/>
          </a:xfrm>
          <a:prstGeom prst="rect">
            <a:avLst/>
          </a:prstGeom>
          <a:noFill/>
        </p:spPr>
        <p:txBody>
          <a:bodyPr wrap="square" rtlCol="0">
            <a:spAutoFit/>
          </a:bodyPr>
          <a:lstStyle/>
          <a:p>
            <a:r>
              <a:rPr lang="en-IN" dirty="0"/>
              <a:t>HWDATA[31:0]</a:t>
            </a:r>
          </a:p>
        </p:txBody>
      </p:sp>
      <p:sp>
        <p:nvSpPr>
          <p:cNvPr id="56" name="TextBox 55">
            <a:extLst>
              <a:ext uri="{FF2B5EF4-FFF2-40B4-BE49-F238E27FC236}">
                <a16:creationId xmlns:a16="http://schemas.microsoft.com/office/drawing/2014/main" id="{8C5BA4CE-0BF7-F5C5-A47E-484CF4A97DBC}"/>
              </a:ext>
            </a:extLst>
          </p:cNvPr>
          <p:cNvSpPr txBox="1"/>
          <p:nvPr/>
        </p:nvSpPr>
        <p:spPr>
          <a:xfrm>
            <a:off x="3678013" y="1915845"/>
            <a:ext cx="1426994" cy="369332"/>
          </a:xfrm>
          <a:prstGeom prst="rect">
            <a:avLst/>
          </a:prstGeom>
          <a:noFill/>
        </p:spPr>
        <p:txBody>
          <a:bodyPr wrap="none" rtlCol="0">
            <a:spAutoFit/>
          </a:bodyPr>
          <a:lstStyle/>
          <a:p>
            <a:r>
              <a:rPr lang="en-IN" dirty="0"/>
              <a:t>HADDR[31:0]</a:t>
            </a:r>
          </a:p>
        </p:txBody>
      </p:sp>
      <p:sp>
        <p:nvSpPr>
          <p:cNvPr id="59" name="Trapezoid 58">
            <a:extLst>
              <a:ext uri="{FF2B5EF4-FFF2-40B4-BE49-F238E27FC236}">
                <a16:creationId xmlns:a16="http://schemas.microsoft.com/office/drawing/2014/main" id="{2CB61A31-0D98-237C-B35E-A1320662F45A}"/>
              </a:ext>
            </a:extLst>
          </p:cNvPr>
          <p:cNvSpPr/>
          <p:nvPr/>
        </p:nvSpPr>
        <p:spPr>
          <a:xfrm rot="16200000">
            <a:off x="4960424" y="5156745"/>
            <a:ext cx="1341278" cy="1149287"/>
          </a:xfrm>
          <a:prstGeom prst="trapezoid">
            <a:avLst/>
          </a:prstGeom>
          <a:solidFill>
            <a:srgbClr val="7030A0"/>
          </a:solidFill>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IN" dirty="0"/>
              <a:t>MUX</a:t>
            </a:r>
          </a:p>
        </p:txBody>
      </p:sp>
      <p:sp>
        <p:nvSpPr>
          <p:cNvPr id="63" name="TextBox 62">
            <a:extLst>
              <a:ext uri="{FF2B5EF4-FFF2-40B4-BE49-F238E27FC236}">
                <a16:creationId xmlns:a16="http://schemas.microsoft.com/office/drawing/2014/main" id="{E0D11C63-99DC-B186-05F0-FCFAA60502F7}"/>
              </a:ext>
            </a:extLst>
          </p:cNvPr>
          <p:cNvSpPr txBox="1"/>
          <p:nvPr/>
        </p:nvSpPr>
        <p:spPr>
          <a:xfrm>
            <a:off x="3606380" y="5334408"/>
            <a:ext cx="1490152" cy="369332"/>
          </a:xfrm>
          <a:prstGeom prst="rect">
            <a:avLst/>
          </a:prstGeom>
          <a:noFill/>
        </p:spPr>
        <p:txBody>
          <a:bodyPr wrap="none" rtlCol="0">
            <a:spAutoFit/>
          </a:bodyPr>
          <a:lstStyle/>
          <a:p>
            <a:r>
              <a:rPr lang="en-IN" dirty="0"/>
              <a:t>HRDATA[31:0]</a:t>
            </a:r>
          </a:p>
        </p:txBody>
      </p:sp>
      <p:cxnSp>
        <p:nvCxnSpPr>
          <p:cNvPr id="65" name="Connector: Elbow 64">
            <a:extLst>
              <a:ext uri="{FF2B5EF4-FFF2-40B4-BE49-F238E27FC236}">
                <a16:creationId xmlns:a16="http://schemas.microsoft.com/office/drawing/2014/main" id="{CB6C0161-1384-904D-ADED-EAB1A0D2C8DC}"/>
              </a:ext>
            </a:extLst>
          </p:cNvPr>
          <p:cNvCxnSpPr>
            <a:cxnSpLocks/>
            <a:endCxn id="39" idx="1"/>
          </p:cNvCxnSpPr>
          <p:nvPr/>
        </p:nvCxnSpPr>
        <p:spPr>
          <a:xfrm flipV="1">
            <a:off x="6311688" y="1730686"/>
            <a:ext cx="1976907" cy="1091502"/>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0AFE35D9-0CB5-C2E9-510E-57EFC82A2086}"/>
              </a:ext>
            </a:extLst>
          </p:cNvPr>
          <p:cNvCxnSpPr>
            <a:cxnSpLocks/>
            <a:stCxn id="50" idx="3"/>
            <a:endCxn id="41" idx="1"/>
          </p:cNvCxnSpPr>
          <p:nvPr/>
        </p:nvCxnSpPr>
        <p:spPr>
          <a:xfrm flipV="1">
            <a:off x="6307112" y="3183402"/>
            <a:ext cx="1981482" cy="130842"/>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15656865-90F4-8906-ABF6-1A28DBE44098}"/>
              </a:ext>
            </a:extLst>
          </p:cNvPr>
          <p:cNvCxnSpPr>
            <a:cxnSpLocks/>
          </p:cNvCxnSpPr>
          <p:nvPr/>
        </p:nvCxnSpPr>
        <p:spPr>
          <a:xfrm>
            <a:off x="6309401" y="3772979"/>
            <a:ext cx="1976904" cy="805311"/>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C73CDEF8-EF33-ACD1-164C-2950EA471D0C}"/>
              </a:ext>
            </a:extLst>
          </p:cNvPr>
          <p:cNvSpPr txBox="1"/>
          <p:nvPr/>
        </p:nvSpPr>
        <p:spPr>
          <a:xfrm>
            <a:off x="6302538" y="2499594"/>
            <a:ext cx="877163" cy="369332"/>
          </a:xfrm>
          <a:prstGeom prst="rect">
            <a:avLst/>
          </a:prstGeom>
          <a:noFill/>
        </p:spPr>
        <p:txBody>
          <a:bodyPr wrap="none" rtlCol="0">
            <a:spAutoFit/>
          </a:bodyPr>
          <a:lstStyle/>
          <a:p>
            <a:r>
              <a:rPr lang="en-IN" dirty="0"/>
              <a:t>HSEL_1</a:t>
            </a:r>
          </a:p>
        </p:txBody>
      </p:sp>
      <p:sp>
        <p:nvSpPr>
          <p:cNvPr id="78" name="TextBox 77">
            <a:extLst>
              <a:ext uri="{FF2B5EF4-FFF2-40B4-BE49-F238E27FC236}">
                <a16:creationId xmlns:a16="http://schemas.microsoft.com/office/drawing/2014/main" id="{A2FFD045-AE2D-E277-D66E-7B283383288A}"/>
              </a:ext>
            </a:extLst>
          </p:cNvPr>
          <p:cNvSpPr txBox="1"/>
          <p:nvPr/>
        </p:nvSpPr>
        <p:spPr>
          <a:xfrm>
            <a:off x="6302537" y="2998735"/>
            <a:ext cx="877163" cy="369332"/>
          </a:xfrm>
          <a:prstGeom prst="rect">
            <a:avLst/>
          </a:prstGeom>
          <a:noFill/>
        </p:spPr>
        <p:txBody>
          <a:bodyPr wrap="none" rtlCol="0">
            <a:spAutoFit/>
          </a:bodyPr>
          <a:lstStyle/>
          <a:p>
            <a:r>
              <a:rPr lang="en-IN" dirty="0"/>
              <a:t>HSEL_2</a:t>
            </a:r>
          </a:p>
        </p:txBody>
      </p:sp>
      <p:sp>
        <p:nvSpPr>
          <p:cNvPr id="79" name="TextBox 78">
            <a:extLst>
              <a:ext uri="{FF2B5EF4-FFF2-40B4-BE49-F238E27FC236}">
                <a16:creationId xmlns:a16="http://schemas.microsoft.com/office/drawing/2014/main" id="{ACC2ED8C-96AC-77BD-E5B1-ECB3A96EE794}"/>
              </a:ext>
            </a:extLst>
          </p:cNvPr>
          <p:cNvSpPr txBox="1"/>
          <p:nvPr/>
        </p:nvSpPr>
        <p:spPr>
          <a:xfrm>
            <a:off x="6311688" y="3505615"/>
            <a:ext cx="877163" cy="369332"/>
          </a:xfrm>
          <a:prstGeom prst="rect">
            <a:avLst/>
          </a:prstGeom>
          <a:noFill/>
        </p:spPr>
        <p:txBody>
          <a:bodyPr wrap="none" rtlCol="0">
            <a:spAutoFit/>
          </a:bodyPr>
          <a:lstStyle/>
          <a:p>
            <a:r>
              <a:rPr lang="en-IN" dirty="0"/>
              <a:t>HSEL_3</a:t>
            </a:r>
          </a:p>
        </p:txBody>
      </p:sp>
      <p:cxnSp>
        <p:nvCxnSpPr>
          <p:cNvPr id="81" name="Connector: Elbow 80">
            <a:extLst>
              <a:ext uri="{FF2B5EF4-FFF2-40B4-BE49-F238E27FC236}">
                <a16:creationId xmlns:a16="http://schemas.microsoft.com/office/drawing/2014/main" id="{17AF4757-67DF-6C9A-CCF0-D6E8623298CD}"/>
              </a:ext>
            </a:extLst>
          </p:cNvPr>
          <p:cNvCxnSpPr>
            <a:cxnSpLocks/>
            <a:stCxn id="39" idx="3"/>
          </p:cNvCxnSpPr>
          <p:nvPr/>
        </p:nvCxnSpPr>
        <p:spPr>
          <a:xfrm flipH="1">
            <a:off x="6205709" y="1730686"/>
            <a:ext cx="4580279" cy="3700499"/>
          </a:xfrm>
          <a:prstGeom prst="bentConnector3">
            <a:avLst>
              <a:gd name="adj1" fmla="val -499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FE8A1EED-2430-88A9-7191-3817EADB544B}"/>
              </a:ext>
            </a:extLst>
          </p:cNvPr>
          <p:cNvCxnSpPr>
            <a:cxnSpLocks/>
            <a:stCxn id="41" idx="3"/>
          </p:cNvCxnSpPr>
          <p:nvPr/>
        </p:nvCxnSpPr>
        <p:spPr>
          <a:xfrm flipH="1">
            <a:off x="6205709" y="3183402"/>
            <a:ext cx="4580278" cy="2643539"/>
          </a:xfrm>
          <a:prstGeom prst="bentConnector3">
            <a:avLst>
              <a:gd name="adj1" fmla="val -12719"/>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57CC47A0-A893-077C-878A-20245D48AC70}"/>
              </a:ext>
            </a:extLst>
          </p:cNvPr>
          <p:cNvCxnSpPr>
            <a:cxnSpLocks/>
            <a:stCxn id="40" idx="3"/>
          </p:cNvCxnSpPr>
          <p:nvPr/>
        </p:nvCxnSpPr>
        <p:spPr>
          <a:xfrm flipH="1">
            <a:off x="6205708" y="4636118"/>
            <a:ext cx="4580278" cy="1552037"/>
          </a:xfrm>
          <a:prstGeom prst="bentConnector3">
            <a:avLst>
              <a:gd name="adj1" fmla="val -21306"/>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66FC1862-B025-1CA3-ECB6-F33432041335}"/>
              </a:ext>
            </a:extLst>
          </p:cNvPr>
          <p:cNvCxnSpPr>
            <a:cxnSpLocks/>
          </p:cNvCxnSpPr>
          <p:nvPr/>
        </p:nvCxnSpPr>
        <p:spPr>
          <a:xfrm>
            <a:off x="3646493" y="1533322"/>
            <a:ext cx="4642096"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CBF5CD5D-3E72-7FA1-B923-46691136687A}"/>
              </a:ext>
            </a:extLst>
          </p:cNvPr>
          <p:cNvCxnSpPr>
            <a:cxnSpLocks/>
          </p:cNvCxnSpPr>
          <p:nvPr/>
        </p:nvCxnSpPr>
        <p:spPr>
          <a:xfrm>
            <a:off x="7639664" y="1553316"/>
            <a:ext cx="0" cy="284170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F52D5CC9-5EF0-0BCF-1C7E-FC0297EBE9DE}"/>
              </a:ext>
            </a:extLst>
          </p:cNvPr>
          <p:cNvCxnSpPr>
            <a:cxnSpLocks/>
          </p:cNvCxnSpPr>
          <p:nvPr/>
        </p:nvCxnSpPr>
        <p:spPr>
          <a:xfrm>
            <a:off x="7639664" y="2868926"/>
            <a:ext cx="648925" cy="1999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F2EA1DBD-57D0-DBBB-A47C-4BC66321CAE9}"/>
              </a:ext>
            </a:extLst>
          </p:cNvPr>
          <p:cNvCxnSpPr>
            <a:cxnSpLocks/>
          </p:cNvCxnSpPr>
          <p:nvPr/>
        </p:nvCxnSpPr>
        <p:spPr>
          <a:xfrm>
            <a:off x="7637379" y="4342779"/>
            <a:ext cx="648925" cy="1999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A1381896-8BA7-069F-868E-AE651E9826D4}"/>
              </a:ext>
            </a:extLst>
          </p:cNvPr>
          <p:cNvCxnSpPr>
            <a:cxnSpLocks/>
          </p:cNvCxnSpPr>
          <p:nvPr/>
        </p:nvCxnSpPr>
        <p:spPr>
          <a:xfrm flipV="1">
            <a:off x="3646493" y="1907099"/>
            <a:ext cx="4639811" cy="874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29AB8CF-2BD6-8BBA-A5E5-3186D72E7C91}"/>
              </a:ext>
            </a:extLst>
          </p:cNvPr>
          <p:cNvCxnSpPr>
            <a:cxnSpLocks/>
          </p:cNvCxnSpPr>
          <p:nvPr/>
        </p:nvCxnSpPr>
        <p:spPr>
          <a:xfrm>
            <a:off x="7831393" y="1951239"/>
            <a:ext cx="0" cy="295552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D6B66295-C523-3972-436A-7B1A67637579}"/>
              </a:ext>
            </a:extLst>
          </p:cNvPr>
          <p:cNvCxnSpPr/>
          <p:nvPr/>
        </p:nvCxnSpPr>
        <p:spPr>
          <a:xfrm>
            <a:off x="7831393" y="3451951"/>
            <a:ext cx="454911"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E16B8348-84D0-6C93-772E-4B58C2934DB7}"/>
              </a:ext>
            </a:extLst>
          </p:cNvPr>
          <p:cNvCxnSpPr>
            <a:cxnSpLocks/>
          </p:cNvCxnSpPr>
          <p:nvPr/>
        </p:nvCxnSpPr>
        <p:spPr>
          <a:xfrm>
            <a:off x="7831393" y="4862621"/>
            <a:ext cx="500469"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BA4DEA00-80DB-5D9C-D01D-F2F9B490896B}"/>
              </a:ext>
            </a:extLst>
          </p:cNvPr>
          <p:cNvCxnSpPr>
            <a:endCxn id="50" idx="0"/>
          </p:cNvCxnSpPr>
          <p:nvPr/>
        </p:nvCxnSpPr>
        <p:spPr>
          <a:xfrm flipH="1">
            <a:off x="5616858" y="1907099"/>
            <a:ext cx="7194" cy="77383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0BBBA868-4D10-B461-2F5F-F4CBDCDC186E}"/>
              </a:ext>
            </a:extLst>
          </p:cNvPr>
          <p:cNvCxnSpPr>
            <a:cxnSpLocks/>
            <a:stCxn id="50" idx="2"/>
            <a:endCxn id="59" idx="3"/>
          </p:cNvCxnSpPr>
          <p:nvPr/>
        </p:nvCxnSpPr>
        <p:spPr>
          <a:xfrm>
            <a:off x="5616858" y="3947554"/>
            <a:ext cx="14206" cy="12568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DC9AC2BD-8FA6-7E32-D8CD-0465210BC647}"/>
              </a:ext>
            </a:extLst>
          </p:cNvPr>
          <p:cNvCxnSpPr>
            <a:cxnSpLocks/>
            <a:stCxn id="59" idx="0"/>
          </p:cNvCxnSpPr>
          <p:nvPr/>
        </p:nvCxnSpPr>
        <p:spPr>
          <a:xfrm flipH="1">
            <a:off x="3635228" y="5731389"/>
            <a:ext cx="1421192" cy="231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ACB20B82-5C53-C5EA-71DC-5FB2068FC3B0}"/>
              </a:ext>
            </a:extLst>
          </p:cNvPr>
          <p:cNvSpPr txBox="1"/>
          <p:nvPr/>
        </p:nvSpPr>
        <p:spPr>
          <a:xfrm>
            <a:off x="6436559" y="5060750"/>
            <a:ext cx="1722587" cy="369332"/>
          </a:xfrm>
          <a:prstGeom prst="rect">
            <a:avLst/>
          </a:prstGeom>
          <a:noFill/>
        </p:spPr>
        <p:txBody>
          <a:bodyPr wrap="none" rtlCol="0">
            <a:spAutoFit/>
          </a:bodyPr>
          <a:lstStyle/>
          <a:p>
            <a:r>
              <a:rPr lang="en-IN" dirty="0"/>
              <a:t>HRDATA_1[31:0]</a:t>
            </a:r>
          </a:p>
        </p:txBody>
      </p:sp>
      <p:sp>
        <p:nvSpPr>
          <p:cNvPr id="154" name="TextBox 153">
            <a:extLst>
              <a:ext uri="{FF2B5EF4-FFF2-40B4-BE49-F238E27FC236}">
                <a16:creationId xmlns:a16="http://schemas.microsoft.com/office/drawing/2014/main" id="{F7DD6877-67BB-22B1-328C-09B209F7EA6E}"/>
              </a:ext>
            </a:extLst>
          </p:cNvPr>
          <p:cNvSpPr txBox="1"/>
          <p:nvPr/>
        </p:nvSpPr>
        <p:spPr>
          <a:xfrm>
            <a:off x="6442788" y="5466579"/>
            <a:ext cx="1722587" cy="646331"/>
          </a:xfrm>
          <a:prstGeom prst="rect">
            <a:avLst/>
          </a:prstGeom>
          <a:noFill/>
        </p:spPr>
        <p:txBody>
          <a:bodyPr wrap="none" rtlCol="0">
            <a:spAutoFit/>
          </a:bodyPr>
          <a:lstStyle/>
          <a:p>
            <a:r>
              <a:rPr lang="en-IN" dirty="0"/>
              <a:t>HRDATA_2[31:0]</a:t>
            </a:r>
          </a:p>
          <a:p>
            <a:endParaRPr lang="en-IN" dirty="0"/>
          </a:p>
        </p:txBody>
      </p:sp>
      <p:sp>
        <p:nvSpPr>
          <p:cNvPr id="159" name="TextBox 158">
            <a:extLst>
              <a:ext uri="{FF2B5EF4-FFF2-40B4-BE49-F238E27FC236}">
                <a16:creationId xmlns:a16="http://schemas.microsoft.com/office/drawing/2014/main" id="{B27F5B37-AEC8-6BE1-36C3-44A4442567DC}"/>
              </a:ext>
            </a:extLst>
          </p:cNvPr>
          <p:cNvSpPr txBox="1"/>
          <p:nvPr/>
        </p:nvSpPr>
        <p:spPr>
          <a:xfrm>
            <a:off x="6436559" y="5841444"/>
            <a:ext cx="1722587" cy="646331"/>
          </a:xfrm>
          <a:prstGeom prst="rect">
            <a:avLst/>
          </a:prstGeom>
          <a:noFill/>
        </p:spPr>
        <p:txBody>
          <a:bodyPr wrap="none" rtlCol="0">
            <a:spAutoFit/>
          </a:bodyPr>
          <a:lstStyle/>
          <a:p>
            <a:r>
              <a:rPr lang="en-IN" dirty="0"/>
              <a:t>HRDATA_3[31:0]</a:t>
            </a:r>
          </a:p>
          <a:p>
            <a:endParaRPr lang="en-IN" dirty="0"/>
          </a:p>
        </p:txBody>
      </p:sp>
      <p:sp>
        <p:nvSpPr>
          <p:cNvPr id="160" name="TextBox 159">
            <a:extLst>
              <a:ext uri="{FF2B5EF4-FFF2-40B4-BE49-F238E27FC236}">
                <a16:creationId xmlns:a16="http://schemas.microsoft.com/office/drawing/2014/main" id="{B1524159-6397-46AD-C7AE-28DFBF91E1F9}"/>
              </a:ext>
            </a:extLst>
          </p:cNvPr>
          <p:cNvSpPr txBox="1"/>
          <p:nvPr/>
        </p:nvSpPr>
        <p:spPr>
          <a:xfrm>
            <a:off x="4414530" y="4221213"/>
            <a:ext cx="1314847" cy="646331"/>
          </a:xfrm>
          <a:prstGeom prst="rect">
            <a:avLst/>
          </a:prstGeom>
          <a:noFill/>
        </p:spPr>
        <p:txBody>
          <a:bodyPr wrap="none" rtlCol="0">
            <a:spAutoFit/>
          </a:bodyPr>
          <a:lstStyle/>
          <a:p>
            <a:pPr algn="ctr"/>
            <a:r>
              <a:rPr lang="en-IN" dirty="0"/>
              <a:t>Multiplexer </a:t>
            </a:r>
          </a:p>
          <a:p>
            <a:pPr algn="ctr"/>
            <a:r>
              <a:rPr lang="en-IN" dirty="0"/>
              <a:t>Select</a:t>
            </a:r>
          </a:p>
        </p:txBody>
      </p:sp>
    </p:spTree>
    <p:extLst>
      <p:ext uri="{BB962C8B-B14F-4D97-AF65-F5344CB8AC3E}">
        <p14:creationId xmlns:p14="http://schemas.microsoft.com/office/powerpoint/2010/main" val="353029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100F9-4ED0-5560-E1F2-5E37B6A0880E}"/>
              </a:ext>
            </a:extLst>
          </p:cNvPr>
          <p:cNvSpPr>
            <a:spLocks noGrp="1"/>
          </p:cNvSpPr>
          <p:nvPr>
            <p:ph type="title"/>
          </p:nvPr>
        </p:nvSpPr>
        <p:spPr>
          <a:xfrm>
            <a:off x="838200" y="207809"/>
            <a:ext cx="10515600" cy="1325563"/>
          </a:xfrm>
        </p:spPr>
        <p:txBody>
          <a:bodyPr>
            <a:normAutofit/>
          </a:bodyPr>
          <a:lstStyle/>
          <a:p>
            <a:pPr algn="ctr"/>
            <a:r>
              <a:rPr lang="en-IN" sz="3200" dirty="0"/>
              <a:t>The Master (The Initiator)</a:t>
            </a:r>
          </a:p>
        </p:txBody>
      </p:sp>
      <p:sp>
        <p:nvSpPr>
          <p:cNvPr id="3" name="Content Placeholder 2">
            <a:extLst>
              <a:ext uri="{FF2B5EF4-FFF2-40B4-BE49-F238E27FC236}">
                <a16:creationId xmlns:a16="http://schemas.microsoft.com/office/drawing/2014/main" id="{338457D2-4510-B483-B08D-086CA1FB7FEA}"/>
              </a:ext>
            </a:extLst>
          </p:cNvPr>
          <p:cNvSpPr>
            <a:spLocks noGrp="1"/>
          </p:cNvSpPr>
          <p:nvPr>
            <p:ph idx="1"/>
          </p:nvPr>
        </p:nvSpPr>
        <p:spPr>
          <a:xfrm>
            <a:off x="838200" y="1160206"/>
            <a:ext cx="10515600" cy="5697794"/>
          </a:xfrm>
        </p:spPr>
        <p:txBody>
          <a:bodyPr>
            <a:normAutofit/>
          </a:bodyPr>
          <a:lstStyle/>
          <a:p>
            <a:r>
              <a:rPr lang="en-US" sz="2200" b="1" dirty="0"/>
              <a:t>Role:</a:t>
            </a:r>
            <a:r>
              <a:rPr lang="en-US" sz="2200" dirty="0"/>
              <a:t> Generates addresses, selects burst types (SINGLE, INCR, WRAP, BUSY), and manages the control signals (HTRANS, HSIZE).</a:t>
            </a:r>
          </a:p>
          <a:p>
            <a:r>
              <a:rPr lang="en-US" sz="2200" dirty="0"/>
              <a:t>The HADDR is address for slave but whatever operation master do whether it is read or write, the HADDR is completely independent of master’s internal memory, thus master has its own choice that where from its memory it access data for write operation and where from its memory it should select address for read operation, in general read or write from its own memory goes in increasing address fashion starting from 0 initial address but user can change according to its need.</a:t>
            </a:r>
          </a:p>
          <a:p>
            <a:r>
              <a:rPr lang="en-US" sz="2200" dirty="0"/>
              <a:t>HADDR is of 32 bit.</a:t>
            </a:r>
          </a:p>
          <a:p>
            <a:r>
              <a:rPr lang="en-US" sz="2200" dirty="0"/>
              <a:t>Master read data through read data bus called HRDATA which is also of 32 bit here, correspondingly master write data through write data bus called HWDATA which is also of 32 bit here.</a:t>
            </a:r>
          </a:p>
          <a:p>
            <a:r>
              <a:rPr lang="en-US" sz="2200" dirty="0"/>
              <a:t>In timing diagram, HRDATA or HWDATA are always 1 cycle delayed respect to HADDR.</a:t>
            </a:r>
          </a:p>
          <a:p>
            <a:r>
              <a:rPr lang="en-US" sz="2200" dirty="0"/>
              <a:t>Currently for operations we take </a:t>
            </a:r>
            <a:r>
              <a:rPr lang="en-US" sz="2200" dirty="0" err="1"/>
              <a:t>negedge</a:t>
            </a:r>
            <a:r>
              <a:rPr lang="en-US" sz="2200" dirty="0"/>
              <a:t> of clock or </a:t>
            </a:r>
            <a:r>
              <a:rPr lang="en-US" sz="2200" dirty="0" err="1"/>
              <a:t>negedge</a:t>
            </a:r>
            <a:r>
              <a:rPr lang="en-US" sz="2200" dirty="0"/>
              <a:t> of HCLK, but its your choice whether you want to take </a:t>
            </a:r>
            <a:r>
              <a:rPr lang="en-US" sz="2200" dirty="0" err="1"/>
              <a:t>negedge</a:t>
            </a:r>
            <a:r>
              <a:rPr lang="en-US" sz="2200" dirty="0"/>
              <a:t> or </a:t>
            </a:r>
            <a:r>
              <a:rPr lang="en-US" sz="2200" dirty="0" err="1"/>
              <a:t>posedge</a:t>
            </a:r>
            <a:r>
              <a:rPr lang="en-US" sz="2200" dirty="0"/>
              <a:t>.	</a:t>
            </a:r>
          </a:p>
          <a:p>
            <a:endParaRPr lang="en-IN" sz="2000" dirty="0"/>
          </a:p>
        </p:txBody>
      </p:sp>
    </p:spTree>
    <p:extLst>
      <p:ext uri="{BB962C8B-B14F-4D97-AF65-F5344CB8AC3E}">
        <p14:creationId xmlns:p14="http://schemas.microsoft.com/office/powerpoint/2010/main" val="252892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7701-0852-B231-617D-4ED68DC2D660}"/>
              </a:ext>
            </a:extLst>
          </p:cNvPr>
          <p:cNvSpPr>
            <a:spLocks noGrp="1"/>
          </p:cNvSpPr>
          <p:nvPr>
            <p:ph type="title"/>
          </p:nvPr>
        </p:nvSpPr>
        <p:spPr>
          <a:xfrm>
            <a:off x="680884" y="365125"/>
            <a:ext cx="3792794" cy="637765"/>
          </a:xfrm>
        </p:spPr>
        <p:txBody>
          <a:bodyPr>
            <a:normAutofit/>
          </a:bodyPr>
          <a:lstStyle/>
          <a:p>
            <a:pPr algn="ctr"/>
            <a:r>
              <a:rPr lang="en-IN" sz="3600" b="1" dirty="0"/>
              <a:t>Master input pins:</a:t>
            </a:r>
          </a:p>
        </p:txBody>
      </p:sp>
      <p:sp>
        <p:nvSpPr>
          <p:cNvPr id="3" name="Content Placeholder 2">
            <a:extLst>
              <a:ext uri="{FF2B5EF4-FFF2-40B4-BE49-F238E27FC236}">
                <a16:creationId xmlns:a16="http://schemas.microsoft.com/office/drawing/2014/main" id="{7B58ACE0-500A-810A-45C1-4269D8EF2CA5}"/>
              </a:ext>
            </a:extLst>
          </p:cNvPr>
          <p:cNvSpPr>
            <a:spLocks noGrp="1"/>
          </p:cNvSpPr>
          <p:nvPr>
            <p:ph idx="1"/>
          </p:nvPr>
        </p:nvSpPr>
        <p:spPr>
          <a:xfrm>
            <a:off x="838200" y="1002890"/>
            <a:ext cx="2809568" cy="5174073"/>
          </a:xfrm>
        </p:spPr>
        <p:txBody>
          <a:bodyPr>
            <a:normAutofit fontScale="70000" lnSpcReduction="20000"/>
          </a:bodyPr>
          <a:lstStyle/>
          <a:p>
            <a:r>
              <a:rPr lang="en-IN" dirty="0"/>
              <a:t>HRESET(reset pin)</a:t>
            </a:r>
          </a:p>
          <a:p>
            <a:r>
              <a:rPr lang="en-IN" dirty="0"/>
              <a:t>HCLK(clock)</a:t>
            </a:r>
          </a:p>
          <a:p>
            <a:r>
              <a:rPr lang="en-IN" dirty="0"/>
              <a:t>HREADY</a:t>
            </a:r>
          </a:p>
          <a:p>
            <a:r>
              <a:rPr lang="en-IN" dirty="0"/>
              <a:t>HRDATA [31:0],</a:t>
            </a:r>
          </a:p>
          <a:p>
            <a:r>
              <a:rPr lang="en-IN" dirty="0" err="1"/>
              <a:t>data_out</a:t>
            </a:r>
            <a:r>
              <a:rPr lang="en-IN" dirty="0"/>
              <a:t>[31:0]</a:t>
            </a:r>
          </a:p>
          <a:p>
            <a:r>
              <a:rPr lang="en-IN" dirty="0"/>
              <a:t>add[31:0]</a:t>
            </a:r>
          </a:p>
          <a:p>
            <a:r>
              <a:rPr lang="en-IN" dirty="0" err="1"/>
              <a:t>add_m</a:t>
            </a:r>
            <a:r>
              <a:rPr lang="en-IN" dirty="0"/>
              <a:t> [31:0]</a:t>
            </a:r>
          </a:p>
          <a:p>
            <a:r>
              <a:rPr lang="en-IN" dirty="0"/>
              <a:t>HWRITE</a:t>
            </a:r>
          </a:p>
          <a:p>
            <a:r>
              <a:rPr lang="en-IN" dirty="0"/>
              <a:t>size [2:0]</a:t>
            </a:r>
          </a:p>
          <a:p>
            <a:r>
              <a:rPr lang="en-IN" dirty="0" err="1"/>
              <a:t>burst_type</a:t>
            </a:r>
            <a:r>
              <a:rPr lang="en-IN" dirty="0"/>
              <a:t> [2:0]</a:t>
            </a:r>
          </a:p>
          <a:p>
            <a:r>
              <a:rPr lang="en-IN" dirty="0"/>
              <a:t>trans[1:0]</a:t>
            </a:r>
          </a:p>
          <a:p>
            <a:r>
              <a:rPr lang="en-IN" dirty="0" err="1"/>
              <a:t>wrap_input</a:t>
            </a:r>
            <a:r>
              <a:rPr lang="en-IN" dirty="0"/>
              <a:t> [31:0]</a:t>
            </a:r>
          </a:p>
          <a:p>
            <a:r>
              <a:rPr lang="en-IN" dirty="0"/>
              <a:t>again</a:t>
            </a:r>
          </a:p>
          <a:p>
            <a:r>
              <a:rPr lang="en-IN" dirty="0"/>
              <a:t>new</a:t>
            </a:r>
          </a:p>
          <a:p>
            <a:r>
              <a:rPr lang="en-IN" dirty="0" err="1"/>
              <a:t>single_input</a:t>
            </a:r>
            <a:r>
              <a:rPr lang="en-IN" dirty="0"/>
              <a:t> [31:0]</a:t>
            </a:r>
          </a:p>
        </p:txBody>
      </p:sp>
      <p:sp>
        <p:nvSpPr>
          <p:cNvPr id="4" name="TextBox 3">
            <a:extLst>
              <a:ext uri="{FF2B5EF4-FFF2-40B4-BE49-F238E27FC236}">
                <a16:creationId xmlns:a16="http://schemas.microsoft.com/office/drawing/2014/main" id="{A9CD3C97-C448-299C-0158-1A7EE4C861E7}"/>
              </a:ext>
            </a:extLst>
          </p:cNvPr>
          <p:cNvSpPr txBox="1"/>
          <p:nvPr/>
        </p:nvSpPr>
        <p:spPr>
          <a:xfrm>
            <a:off x="7492180" y="356559"/>
            <a:ext cx="3714863" cy="646331"/>
          </a:xfrm>
          <a:prstGeom prst="rect">
            <a:avLst/>
          </a:prstGeom>
          <a:noFill/>
        </p:spPr>
        <p:txBody>
          <a:bodyPr wrap="none" rtlCol="0">
            <a:spAutoFit/>
          </a:bodyPr>
          <a:lstStyle/>
          <a:p>
            <a:r>
              <a:rPr lang="en-IN" sz="3600" dirty="0"/>
              <a:t>Mater output pins:</a:t>
            </a:r>
          </a:p>
        </p:txBody>
      </p:sp>
      <p:sp>
        <p:nvSpPr>
          <p:cNvPr id="6" name="TextBox 5">
            <a:extLst>
              <a:ext uri="{FF2B5EF4-FFF2-40B4-BE49-F238E27FC236}">
                <a16:creationId xmlns:a16="http://schemas.microsoft.com/office/drawing/2014/main" id="{90878038-0AFE-63B2-32D5-3C02192A8A24}"/>
              </a:ext>
            </a:extLst>
          </p:cNvPr>
          <p:cNvSpPr txBox="1"/>
          <p:nvPr/>
        </p:nvSpPr>
        <p:spPr>
          <a:xfrm>
            <a:off x="7492180" y="1120878"/>
            <a:ext cx="2989007" cy="4093428"/>
          </a:xfrm>
          <a:prstGeom prst="rect">
            <a:avLst/>
          </a:prstGeom>
          <a:noFill/>
        </p:spPr>
        <p:txBody>
          <a:bodyPr wrap="square" rtlCol="0">
            <a:spAutoFit/>
          </a:bodyPr>
          <a:lstStyle/>
          <a:p>
            <a:pPr marL="342900" indent="-342900">
              <a:buFont typeface="Arial" panose="020B0604020202020204" pitchFamily="34" charset="0"/>
              <a:buChar char="•"/>
            </a:pPr>
            <a:r>
              <a:rPr lang="en-IN" sz="2000" dirty="0"/>
              <a:t>HADDR[31:0]</a:t>
            </a:r>
          </a:p>
          <a:p>
            <a:pPr marL="285750" indent="-285750">
              <a:buFont typeface="Arial" panose="020B0604020202020204" pitchFamily="34" charset="0"/>
              <a:buChar char="•"/>
            </a:pPr>
            <a:r>
              <a:rPr lang="en-IN" sz="2000" dirty="0"/>
              <a:t> HADDR_M[31:0]</a:t>
            </a:r>
          </a:p>
          <a:p>
            <a:pPr marL="285750" indent="-285750">
              <a:buFont typeface="Arial" panose="020B0604020202020204" pitchFamily="34" charset="0"/>
              <a:buChar char="•"/>
            </a:pPr>
            <a:r>
              <a:rPr lang="en-IN" sz="2000" dirty="0"/>
              <a:t> HWDATA[31:0]</a:t>
            </a:r>
          </a:p>
          <a:p>
            <a:pPr marL="285750" indent="-285750">
              <a:buFont typeface="Arial" panose="020B0604020202020204" pitchFamily="34" charset="0"/>
              <a:buChar char="•"/>
            </a:pPr>
            <a:r>
              <a:rPr lang="en-IN" sz="2000" dirty="0"/>
              <a:t> </a:t>
            </a:r>
            <a:r>
              <a:rPr lang="en-IN" sz="2000" dirty="0" err="1"/>
              <a:t>data_in</a:t>
            </a:r>
            <a:r>
              <a:rPr lang="en-IN" sz="2000" dirty="0"/>
              <a:t>[31:0]</a:t>
            </a:r>
          </a:p>
          <a:p>
            <a:pPr marL="285750" indent="-285750">
              <a:buFont typeface="Arial" panose="020B0604020202020204" pitchFamily="34" charset="0"/>
              <a:buChar char="•"/>
            </a:pPr>
            <a:r>
              <a:rPr lang="en-IN" sz="2000" dirty="0"/>
              <a:t> HSIZE[7:0]</a:t>
            </a:r>
          </a:p>
          <a:p>
            <a:pPr marL="285750" indent="-285750">
              <a:buFont typeface="Arial" panose="020B0604020202020204" pitchFamily="34" charset="0"/>
              <a:buChar char="•"/>
            </a:pPr>
            <a:r>
              <a:rPr lang="en-IN" sz="2000" dirty="0"/>
              <a:t> HBURST[2:0]</a:t>
            </a:r>
          </a:p>
          <a:p>
            <a:pPr marL="285750" indent="-285750">
              <a:buFont typeface="Arial" panose="020B0604020202020204" pitchFamily="34" charset="0"/>
              <a:buChar char="•"/>
            </a:pPr>
            <a:r>
              <a:rPr lang="en-IN" sz="2000" dirty="0"/>
              <a:t> HTRANS[1:0]</a:t>
            </a:r>
          </a:p>
          <a:p>
            <a:pPr marL="285750" indent="-285750">
              <a:buFont typeface="Arial" panose="020B0604020202020204" pitchFamily="34" charset="0"/>
              <a:buChar char="•"/>
            </a:pPr>
            <a:r>
              <a:rPr lang="en-IN" sz="2000" dirty="0"/>
              <a:t> N[7:0]</a:t>
            </a:r>
          </a:p>
          <a:p>
            <a:pPr marL="285750" indent="-285750">
              <a:buFont typeface="Arial" panose="020B0604020202020204" pitchFamily="34" charset="0"/>
              <a:buChar char="•"/>
            </a:pPr>
            <a:r>
              <a:rPr lang="en-IN" sz="2000" dirty="0"/>
              <a:t> M[7:0]</a:t>
            </a:r>
          </a:p>
          <a:p>
            <a:pPr marL="285750" indent="-285750">
              <a:buFont typeface="Arial" panose="020B0604020202020204" pitchFamily="34" charset="0"/>
              <a:buChar char="•"/>
            </a:pPr>
            <a:r>
              <a:rPr lang="en-IN" sz="2000" dirty="0"/>
              <a:t> O[7:0]</a:t>
            </a:r>
          </a:p>
          <a:p>
            <a:pPr marL="285750" indent="-285750">
              <a:buFont typeface="Arial" panose="020B0604020202020204" pitchFamily="34" charset="0"/>
              <a:buChar char="•"/>
            </a:pPr>
            <a:r>
              <a:rPr lang="en-IN" sz="2000" dirty="0"/>
              <a:t> </a:t>
            </a:r>
            <a:r>
              <a:rPr lang="en-IN" sz="2000" dirty="0" err="1"/>
              <a:t>count_no</a:t>
            </a:r>
            <a:r>
              <a:rPr lang="en-IN" sz="2000" dirty="0"/>
              <a:t>[31:0]</a:t>
            </a:r>
          </a:p>
          <a:p>
            <a:pPr marL="285750" indent="-285750">
              <a:buFont typeface="Arial" panose="020B0604020202020204" pitchFamily="34" charset="0"/>
              <a:buChar char="•"/>
            </a:pPr>
            <a:r>
              <a:rPr lang="en-IN" sz="2000" dirty="0"/>
              <a:t> count[31:0]</a:t>
            </a:r>
          </a:p>
          <a:p>
            <a:pPr marL="285750" indent="-285750">
              <a:buFont typeface="Arial" panose="020B0604020202020204" pitchFamily="34" charset="0"/>
              <a:buChar char="•"/>
            </a:pPr>
            <a:r>
              <a:rPr lang="en-IN" sz="2000" dirty="0"/>
              <a:t> </a:t>
            </a:r>
            <a:r>
              <a:rPr lang="en-IN" sz="2000" dirty="0" err="1"/>
              <a:t>burst_done</a:t>
            </a:r>
            <a:endParaRPr lang="en-IN" sz="2000" dirty="0"/>
          </a:p>
        </p:txBody>
      </p:sp>
    </p:spTree>
    <p:extLst>
      <p:ext uri="{BB962C8B-B14F-4D97-AF65-F5344CB8AC3E}">
        <p14:creationId xmlns:p14="http://schemas.microsoft.com/office/powerpoint/2010/main" val="3836110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A2640605-E641-F293-ACD2-D506B26AB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57CCB-9B55-DAFB-DBD7-1FB774998A45}"/>
              </a:ext>
            </a:extLst>
          </p:cNvPr>
          <p:cNvSpPr>
            <a:spLocks noGrp="1"/>
          </p:cNvSpPr>
          <p:nvPr>
            <p:ph type="title"/>
          </p:nvPr>
        </p:nvSpPr>
        <p:spPr>
          <a:xfrm>
            <a:off x="680884" y="365125"/>
            <a:ext cx="3792794" cy="637765"/>
          </a:xfrm>
        </p:spPr>
        <p:txBody>
          <a:bodyPr>
            <a:normAutofit fontScale="90000"/>
          </a:bodyPr>
          <a:lstStyle/>
          <a:p>
            <a:pPr algn="ctr"/>
            <a:r>
              <a:rPr lang="en-IN" sz="3600" b="1" dirty="0"/>
              <a:t>Slave input pins(all 3 slaves included):</a:t>
            </a:r>
          </a:p>
        </p:txBody>
      </p:sp>
      <p:sp>
        <p:nvSpPr>
          <p:cNvPr id="3" name="Content Placeholder 2">
            <a:extLst>
              <a:ext uri="{FF2B5EF4-FFF2-40B4-BE49-F238E27FC236}">
                <a16:creationId xmlns:a16="http://schemas.microsoft.com/office/drawing/2014/main" id="{9FBCEADE-512E-FFE7-7D4F-D8207A55218C}"/>
              </a:ext>
            </a:extLst>
          </p:cNvPr>
          <p:cNvSpPr>
            <a:spLocks noGrp="1"/>
          </p:cNvSpPr>
          <p:nvPr>
            <p:ph idx="1"/>
          </p:nvPr>
        </p:nvSpPr>
        <p:spPr>
          <a:xfrm>
            <a:off x="838200" y="1239520"/>
            <a:ext cx="2809568" cy="5110480"/>
          </a:xfrm>
        </p:spPr>
        <p:txBody>
          <a:bodyPr>
            <a:normAutofit/>
          </a:bodyPr>
          <a:lstStyle/>
          <a:p>
            <a:r>
              <a:rPr lang="en-IN" dirty="0"/>
              <a:t>HWRITE</a:t>
            </a:r>
          </a:p>
          <a:p>
            <a:r>
              <a:rPr lang="en-IN" dirty="0"/>
              <a:t>HCLK</a:t>
            </a:r>
          </a:p>
          <a:p>
            <a:r>
              <a:rPr lang="en-IN" dirty="0"/>
              <a:t>HREADY</a:t>
            </a:r>
          </a:p>
          <a:p>
            <a:r>
              <a:rPr lang="en-IN" dirty="0"/>
              <a:t>HTRANS [1:0]</a:t>
            </a:r>
          </a:p>
          <a:p>
            <a:r>
              <a:rPr lang="en-IN" dirty="0"/>
              <a:t>HADDR [31:0]</a:t>
            </a:r>
          </a:p>
          <a:p>
            <a:r>
              <a:rPr lang="en-IN" dirty="0"/>
              <a:t>HWDATA [31:0] </a:t>
            </a:r>
          </a:p>
          <a:p>
            <a:r>
              <a:rPr lang="en-IN" dirty="0"/>
              <a:t>HSEL_1</a:t>
            </a:r>
          </a:p>
          <a:p>
            <a:r>
              <a:rPr lang="en-IN" dirty="0"/>
              <a:t>HSEL_2</a:t>
            </a:r>
          </a:p>
          <a:p>
            <a:r>
              <a:rPr lang="en-IN" dirty="0"/>
              <a:t>HSEL_3</a:t>
            </a:r>
          </a:p>
        </p:txBody>
      </p:sp>
      <p:sp>
        <p:nvSpPr>
          <p:cNvPr id="4" name="TextBox 3">
            <a:extLst>
              <a:ext uri="{FF2B5EF4-FFF2-40B4-BE49-F238E27FC236}">
                <a16:creationId xmlns:a16="http://schemas.microsoft.com/office/drawing/2014/main" id="{96D25698-D017-2D59-DA07-F2184AE6DA37}"/>
              </a:ext>
            </a:extLst>
          </p:cNvPr>
          <p:cNvSpPr txBox="1"/>
          <p:nvPr/>
        </p:nvSpPr>
        <p:spPr>
          <a:xfrm>
            <a:off x="7492180" y="181987"/>
            <a:ext cx="4435660" cy="1077218"/>
          </a:xfrm>
          <a:prstGeom prst="rect">
            <a:avLst/>
          </a:prstGeom>
          <a:noFill/>
        </p:spPr>
        <p:txBody>
          <a:bodyPr wrap="square" rtlCol="0">
            <a:spAutoFit/>
          </a:bodyPr>
          <a:lstStyle/>
          <a:p>
            <a:r>
              <a:rPr lang="en-IN" sz="3200" dirty="0"/>
              <a:t>Slave output pins(all 3 slaves included):</a:t>
            </a:r>
          </a:p>
        </p:txBody>
      </p:sp>
      <p:sp>
        <p:nvSpPr>
          <p:cNvPr id="6" name="TextBox 5">
            <a:extLst>
              <a:ext uri="{FF2B5EF4-FFF2-40B4-BE49-F238E27FC236}">
                <a16:creationId xmlns:a16="http://schemas.microsoft.com/office/drawing/2014/main" id="{3459B021-5349-B5F5-B92E-DE8743808F84}"/>
              </a:ext>
            </a:extLst>
          </p:cNvPr>
          <p:cNvSpPr txBox="1"/>
          <p:nvPr/>
        </p:nvSpPr>
        <p:spPr>
          <a:xfrm>
            <a:off x="7421060" y="1239520"/>
            <a:ext cx="2989007" cy="1692771"/>
          </a:xfrm>
          <a:prstGeom prst="rect">
            <a:avLst/>
          </a:prstGeom>
          <a:noFill/>
        </p:spPr>
        <p:txBody>
          <a:bodyPr wrap="square" rtlCol="0">
            <a:spAutoFit/>
          </a:bodyPr>
          <a:lstStyle/>
          <a:p>
            <a:pPr marL="342900" indent="-342900">
              <a:buFont typeface="Arial" panose="020B0604020202020204" pitchFamily="34" charset="0"/>
              <a:buChar char="•"/>
            </a:pPr>
            <a:r>
              <a:rPr lang="en-IN" sz="2800" dirty="0"/>
              <a:t>HRDATA_1 [31:0]</a:t>
            </a:r>
          </a:p>
          <a:p>
            <a:pPr marL="342900" indent="-342900">
              <a:buFont typeface="Arial" panose="020B0604020202020204" pitchFamily="34" charset="0"/>
              <a:buChar char="•"/>
            </a:pPr>
            <a:r>
              <a:rPr lang="en-IN" sz="2800" dirty="0"/>
              <a:t>HRDATA_2 [31:0]</a:t>
            </a:r>
          </a:p>
          <a:p>
            <a:pPr marL="342900" indent="-342900">
              <a:buFont typeface="Arial" panose="020B0604020202020204" pitchFamily="34" charset="0"/>
              <a:buChar char="•"/>
            </a:pPr>
            <a:r>
              <a:rPr lang="en-IN" sz="2800" dirty="0"/>
              <a:t>HRDATA_3 [31:0]</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292609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8E1B-AA08-6C1F-6252-D5AA56C240A6}"/>
              </a:ext>
            </a:extLst>
          </p:cNvPr>
          <p:cNvSpPr>
            <a:spLocks noGrp="1"/>
          </p:cNvSpPr>
          <p:nvPr>
            <p:ph type="title"/>
          </p:nvPr>
        </p:nvSpPr>
        <p:spPr>
          <a:xfrm>
            <a:off x="838200" y="365125"/>
            <a:ext cx="10515600" cy="942565"/>
          </a:xfrm>
        </p:spPr>
        <p:txBody>
          <a:bodyPr/>
          <a:lstStyle/>
          <a:p>
            <a:pPr algn="ctr"/>
            <a:r>
              <a:rPr lang="en-IN" sz="3600" dirty="0"/>
              <a:t>Scaling of decoder</a:t>
            </a:r>
            <a:r>
              <a:rPr lang="en-IN" dirty="0"/>
              <a:t>:</a:t>
            </a:r>
          </a:p>
        </p:txBody>
      </p:sp>
      <p:sp>
        <p:nvSpPr>
          <p:cNvPr id="3" name="Content Placeholder 2">
            <a:extLst>
              <a:ext uri="{FF2B5EF4-FFF2-40B4-BE49-F238E27FC236}">
                <a16:creationId xmlns:a16="http://schemas.microsoft.com/office/drawing/2014/main" id="{6F5D6BEC-52FD-C8A1-F8F2-AA75EE18BDD9}"/>
              </a:ext>
            </a:extLst>
          </p:cNvPr>
          <p:cNvSpPr>
            <a:spLocks noGrp="1"/>
          </p:cNvSpPr>
          <p:nvPr>
            <p:ph idx="1"/>
          </p:nvPr>
        </p:nvSpPr>
        <p:spPr>
          <a:xfrm>
            <a:off x="838200" y="1307690"/>
            <a:ext cx="10515600" cy="4869273"/>
          </a:xfrm>
        </p:spPr>
        <p:txBody>
          <a:bodyPr>
            <a:normAutofit fontScale="92500" lnSpcReduction="20000"/>
          </a:bodyPr>
          <a:lstStyle/>
          <a:p>
            <a:r>
              <a:rPr lang="en-IN" sz="2400" dirty="0"/>
              <a:t>Decoder takes address given by master and decode it to give signal to the slave for which master want to do read or write operation.</a:t>
            </a:r>
          </a:p>
          <a:p>
            <a:r>
              <a:rPr lang="en-IN" sz="2400" dirty="0"/>
              <a:t>Decoder decides and gives signals HSEL_1, HSEL_2 and HSEL_3.</a:t>
            </a:r>
          </a:p>
          <a:p>
            <a:r>
              <a:rPr lang="en-US" sz="2400" dirty="0"/>
              <a:t>Slave 1: Addresses 0 to 124 </a:t>
            </a:r>
            <a:r>
              <a:rPr lang="en-US" sz="2400" dirty="0">
                <a:sym typeface="Wingdings" panose="05000000000000000000" pitchFamily="2" charset="2"/>
              </a:rPr>
              <a:t> HSEL_1 = 1 and others 0</a:t>
            </a:r>
            <a:endParaRPr lang="en-US" sz="2400" dirty="0"/>
          </a:p>
          <a:p>
            <a:pPr marL="0" indent="0">
              <a:buNone/>
            </a:pPr>
            <a:r>
              <a:rPr lang="en-US" sz="2400" dirty="0"/>
              <a:t>    Slave 2: Addresses 128 to 252 </a:t>
            </a:r>
            <a:r>
              <a:rPr lang="en-US" sz="2400" dirty="0">
                <a:sym typeface="Wingdings" panose="05000000000000000000" pitchFamily="2" charset="2"/>
              </a:rPr>
              <a:t> HSEL_2 = 1 and others 0</a:t>
            </a:r>
            <a:endParaRPr lang="en-US" sz="2400" dirty="0"/>
          </a:p>
          <a:p>
            <a:pPr marL="0" indent="0">
              <a:buNone/>
            </a:pPr>
            <a:r>
              <a:rPr lang="en-US" sz="2400" dirty="0"/>
              <a:t>    Slave 3: Addresses 256 to 380 </a:t>
            </a:r>
            <a:r>
              <a:rPr lang="en-US" sz="2400" dirty="0">
                <a:sym typeface="Wingdings" panose="05000000000000000000" pitchFamily="2" charset="2"/>
              </a:rPr>
              <a:t> HSEL_3 = 1 and others 0</a:t>
            </a:r>
          </a:p>
          <a:p>
            <a:r>
              <a:rPr lang="en-US" sz="2400" dirty="0">
                <a:sym typeface="Wingdings" panose="05000000000000000000" pitchFamily="2" charset="2"/>
              </a:rPr>
              <a:t>Decoder has one more signal of 2 bit called Multiplexer Select or </a:t>
            </a:r>
            <a:r>
              <a:rPr lang="en-US" sz="2400" dirty="0" err="1">
                <a:sym typeface="Wingdings" panose="05000000000000000000" pitchFamily="2" charset="2"/>
              </a:rPr>
              <a:t>m_select</a:t>
            </a:r>
            <a:r>
              <a:rPr lang="en-US" sz="2400" dirty="0">
                <a:sym typeface="Wingdings" panose="05000000000000000000" pitchFamily="2" charset="2"/>
              </a:rPr>
              <a:t>, it has select lines which are given in mux which decides that from which slave it has to take data and give to master.</a:t>
            </a:r>
          </a:p>
          <a:p>
            <a:r>
              <a:rPr lang="en-US" sz="2400" dirty="0">
                <a:sym typeface="Wingdings" panose="05000000000000000000" pitchFamily="2" charset="2"/>
              </a:rPr>
              <a:t>If HSEL_1 == 1 corresponding </a:t>
            </a:r>
            <a:r>
              <a:rPr lang="en-US" sz="2400" dirty="0" err="1">
                <a:sym typeface="Wingdings" panose="05000000000000000000" pitchFamily="2" charset="2"/>
              </a:rPr>
              <a:t>m_select</a:t>
            </a:r>
            <a:r>
              <a:rPr lang="en-US" sz="2400" dirty="0">
                <a:sym typeface="Wingdings" panose="05000000000000000000" pitchFamily="2" charset="2"/>
              </a:rPr>
              <a:t> = 0, thus mux takes HRDATA_1 or takes data from slave 1.</a:t>
            </a:r>
          </a:p>
          <a:p>
            <a:r>
              <a:rPr lang="en-US" sz="2400" dirty="0">
                <a:sym typeface="Wingdings" panose="05000000000000000000" pitchFamily="2" charset="2"/>
              </a:rPr>
              <a:t>If HSEL_2 == 1 corresponding </a:t>
            </a:r>
            <a:r>
              <a:rPr lang="en-US" sz="2400" dirty="0" err="1">
                <a:sym typeface="Wingdings" panose="05000000000000000000" pitchFamily="2" charset="2"/>
              </a:rPr>
              <a:t>m_select</a:t>
            </a:r>
            <a:r>
              <a:rPr lang="en-US" sz="2400" dirty="0">
                <a:sym typeface="Wingdings" panose="05000000000000000000" pitchFamily="2" charset="2"/>
              </a:rPr>
              <a:t> = 1, thus mux takes HRDATA_2 or takes data from slave 2.</a:t>
            </a:r>
          </a:p>
          <a:p>
            <a:r>
              <a:rPr lang="en-US" sz="2400" dirty="0">
                <a:sym typeface="Wingdings" panose="05000000000000000000" pitchFamily="2" charset="2"/>
              </a:rPr>
              <a:t>If HSEL_3 == 1 corresponding </a:t>
            </a:r>
            <a:r>
              <a:rPr lang="en-US" sz="2400" dirty="0" err="1">
                <a:sym typeface="Wingdings" panose="05000000000000000000" pitchFamily="2" charset="2"/>
              </a:rPr>
              <a:t>m_select</a:t>
            </a:r>
            <a:r>
              <a:rPr lang="en-US" sz="2400" dirty="0">
                <a:sym typeface="Wingdings" panose="05000000000000000000" pitchFamily="2" charset="2"/>
              </a:rPr>
              <a:t> = 2, thus mux takes HRDATA_3 or takes data from slave 3.</a:t>
            </a:r>
          </a:p>
          <a:p>
            <a:endParaRPr lang="en-US" sz="2000" dirty="0">
              <a:sym typeface="Wingdings" panose="05000000000000000000" pitchFamily="2" charset="2"/>
            </a:endParaRPr>
          </a:p>
          <a:p>
            <a:endParaRPr lang="en-US" sz="2000" dirty="0">
              <a:sym typeface="Wingdings" panose="05000000000000000000" pitchFamily="2" charset="2"/>
            </a:endParaRPr>
          </a:p>
          <a:p>
            <a:endParaRPr lang="en-US" sz="2000" dirty="0">
              <a:sym typeface="Wingdings" panose="05000000000000000000" pitchFamily="2" charset="2"/>
            </a:endParaRPr>
          </a:p>
          <a:p>
            <a:endParaRPr lang="en-US" dirty="0"/>
          </a:p>
        </p:txBody>
      </p:sp>
    </p:spTree>
    <p:extLst>
      <p:ext uri="{BB962C8B-B14F-4D97-AF65-F5344CB8AC3E}">
        <p14:creationId xmlns:p14="http://schemas.microsoft.com/office/powerpoint/2010/main" val="2119328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73714-651A-26BD-0070-A4EEA05747C0}"/>
              </a:ext>
            </a:extLst>
          </p:cNvPr>
          <p:cNvSpPr>
            <a:spLocks noGrp="1"/>
          </p:cNvSpPr>
          <p:nvPr>
            <p:ph type="title"/>
          </p:nvPr>
        </p:nvSpPr>
        <p:spPr>
          <a:xfrm>
            <a:off x="838200" y="365126"/>
            <a:ext cx="10515600" cy="677094"/>
          </a:xfrm>
        </p:spPr>
        <p:txBody>
          <a:bodyPr>
            <a:normAutofit/>
          </a:bodyPr>
          <a:lstStyle/>
          <a:p>
            <a:pPr algn="ctr"/>
            <a:r>
              <a:rPr lang="en-IN" sz="3600" dirty="0" err="1"/>
              <a:t>burst_type</a:t>
            </a:r>
            <a:r>
              <a:rPr lang="en-IN" sz="3600" dirty="0"/>
              <a:t>:</a:t>
            </a:r>
          </a:p>
        </p:txBody>
      </p:sp>
      <p:sp>
        <p:nvSpPr>
          <p:cNvPr id="3" name="Content Placeholder 2">
            <a:extLst>
              <a:ext uri="{FF2B5EF4-FFF2-40B4-BE49-F238E27FC236}">
                <a16:creationId xmlns:a16="http://schemas.microsoft.com/office/drawing/2014/main" id="{A940B86C-37C3-B397-CA02-4B01B6EDDB09}"/>
              </a:ext>
            </a:extLst>
          </p:cNvPr>
          <p:cNvSpPr>
            <a:spLocks noGrp="1"/>
          </p:cNvSpPr>
          <p:nvPr>
            <p:ph idx="1"/>
          </p:nvPr>
        </p:nvSpPr>
        <p:spPr>
          <a:xfrm>
            <a:off x="838200" y="1042220"/>
            <a:ext cx="10515600" cy="5134743"/>
          </a:xfrm>
        </p:spPr>
        <p:txBody>
          <a:bodyPr>
            <a:normAutofit fontScale="85000" lnSpcReduction="20000"/>
          </a:bodyPr>
          <a:lstStyle/>
          <a:p>
            <a:r>
              <a:rPr lang="en-IN" dirty="0"/>
              <a:t>There are total 8 </a:t>
            </a:r>
            <a:r>
              <a:rPr lang="en-IN" dirty="0" err="1"/>
              <a:t>burst_type</a:t>
            </a:r>
            <a:r>
              <a:rPr lang="en-IN" dirty="0"/>
              <a:t>, whenever we are going to do any burst then I should be done in one slave at a time, for example: if </a:t>
            </a:r>
            <a:r>
              <a:rPr lang="en-IN" dirty="0" err="1"/>
              <a:t>burst_type</a:t>
            </a:r>
            <a:r>
              <a:rPr lang="en-IN" dirty="0"/>
              <a:t> = 3’b110, then it has total of 16 addresses for which we do read or write operation of 16 set of data, basically combine of them called 16 beats. It should not be the case that half of beat completed in one slave and other half completed in other slave, if this happen then it is protocol violation.</a:t>
            </a:r>
          </a:p>
          <a:p>
            <a:r>
              <a:rPr lang="en-IN" dirty="0"/>
              <a:t>In this way we can say that the </a:t>
            </a:r>
            <a:r>
              <a:rPr lang="en-IN" dirty="0" err="1"/>
              <a:t>initial_address</a:t>
            </a:r>
            <a:r>
              <a:rPr lang="en-IN" dirty="0"/>
              <a:t>(add or </a:t>
            </a:r>
            <a:r>
              <a:rPr lang="en-IN" dirty="0" err="1"/>
              <a:t>wrap_input</a:t>
            </a:r>
            <a:r>
              <a:rPr lang="en-IN" dirty="0"/>
              <a:t>) is chosen such that HADDR do not cross slave boundary.</a:t>
            </a:r>
          </a:p>
          <a:p>
            <a:r>
              <a:rPr lang="en-IN" dirty="0"/>
              <a:t>Burst are of two types:</a:t>
            </a:r>
          </a:p>
          <a:p>
            <a:pPr marL="514350" indent="-514350">
              <a:buFont typeface="+mj-lt"/>
              <a:buAutoNum type="arabicPeriod"/>
            </a:pPr>
            <a:r>
              <a:rPr lang="en-IN" dirty="0"/>
              <a:t>Incrementing burst: we give </a:t>
            </a:r>
            <a:r>
              <a:rPr lang="en-IN" dirty="0" err="1"/>
              <a:t>initial_address</a:t>
            </a:r>
            <a:r>
              <a:rPr lang="en-IN" dirty="0"/>
              <a:t>(add) and </a:t>
            </a:r>
            <a:r>
              <a:rPr lang="en-IN" dirty="0" err="1"/>
              <a:t>burst_type</a:t>
            </a:r>
            <a:r>
              <a:rPr lang="en-IN" dirty="0"/>
              <a:t> and it goes increasing till beats get over. </a:t>
            </a:r>
          </a:p>
          <a:p>
            <a:pPr marL="514350" indent="-514350">
              <a:buFont typeface="+mj-lt"/>
              <a:buAutoNum type="arabicPeriod"/>
            </a:pPr>
            <a:r>
              <a:rPr lang="en-IN" dirty="0"/>
              <a:t>Wrapping burst: we give </a:t>
            </a:r>
            <a:r>
              <a:rPr lang="en-IN" dirty="0" err="1"/>
              <a:t>initial_address</a:t>
            </a:r>
            <a:r>
              <a:rPr lang="en-IN" dirty="0"/>
              <a:t>(</a:t>
            </a:r>
            <a:r>
              <a:rPr lang="en-IN" dirty="0" err="1"/>
              <a:t>wrap_input</a:t>
            </a:r>
            <a:r>
              <a:rPr lang="en-IN" dirty="0"/>
              <a:t>), add and </a:t>
            </a:r>
            <a:r>
              <a:rPr lang="en-IN" dirty="0" err="1"/>
              <a:t>burst_type</a:t>
            </a:r>
            <a:r>
              <a:rPr lang="en-IN" dirty="0"/>
              <a:t> and address goes on increasing till it reaches </a:t>
            </a:r>
            <a:r>
              <a:rPr lang="en-IN" dirty="0" err="1"/>
              <a:t>Last_address</a:t>
            </a:r>
            <a:r>
              <a:rPr lang="en-IN" dirty="0"/>
              <a:t> of that particular burst and wrap to add and again goes on increasing till </a:t>
            </a:r>
            <a:r>
              <a:rPr lang="en-IN" dirty="0" err="1"/>
              <a:t>wrap_input</a:t>
            </a:r>
            <a:r>
              <a:rPr lang="en-IN" dirty="0"/>
              <a:t> – 4 or address just before </a:t>
            </a:r>
            <a:r>
              <a:rPr lang="en-IN" dirty="0" err="1"/>
              <a:t>wrap_input</a:t>
            </a:r>
            <a:r>
              <a:rPr lang="en-IN" dirty="0"/>
              <a:t>.</a:t>
            </a:r>
          </a:p>
          <a:p>
            <a:r>
              <a:rPr lang="en-IN" dirty="0" err="1"/>
              <a:t>Last_address</a:t>
            </a:r>
            <a:r>
              <a:rPr lang="en-IN" dirty="0"/>
              <a:t> = add + ((beat-1) x 4)</a:t>
            </a:r>
          </a:p>
        </p:txBody>
      </p:sp>
    </p:spTree>
    <p:extLst>
      <p:ext uri="{BB962C8B-B14F-4D97-AF65-F5344CB8AC3E}">
        <p14:creationId xmlns:p14="http://schemas.microsoft.com/office/powerpoint/2010/main" val="3432232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CFD0E81A-0750-93B5-F19D-2935749BB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1568F-1266-B572-9E9B-D75FAAB31D1F}"/>
              </a:ext>
            </a:extLst>
          </p:cNvPr>
          <p:cNvSpPr>
            <a:spLocks noGrp="1"/>
          </p:cNvSpPr>
          <p:nvPr>
            <p:ph type="title"/>
          </p:nvPr>
        </p:nvSpPr>
        <p:spPr>
          <a:xfrm>
            <a:off x="838200" y="365126"/>
            <a:ext cx="10515600" cy="677094"/>
          </a:xfrm>
        </p:spPr>
        <p:txBody>
          <a:bodyPr>
            <a:normAutofit/>
          </a:bodyPr>
          <a:lstStyle/>
          <a:p>
            <a:pPr algn="ctr"/>
            <a:r>
              <a:rPr lang="en-IN" sz="3600" dirty="0" err="1"/>
              <a:t>burst_type</a:t>
            </a:r>
            <a:r>
              <a:rPr lang="en-IN" sz="3600" dirty="0"/>
              <a:t>:</a:t>
            </a:r>
          </a:p>
        </p:txBody>
      </p:sp>
      <p:sp>
        <p:nvSpPr>
          <p:cNvPr id="3" name="Content Placeholder 2">
            <a:extLst>
              <a:ext uri="{FF2B5EF4-FFF2-40B4-BE49-F238E27FC236}">
                <a16:creationId xmlns:a16="http://schemas.microsoft.com/office/drawing/2014/main" id="{9C88637A-6BAD-8552-7A58-F1DA82DB8573}"/>
              </a:ext>
            </a:extLst>
          </p:cNvPr>
          <p:cNvSpPr>
            <a:spLocks noGrp="1"/>
          </p:cNvSpPr>
          <p:nvPr>
            <p:ph idx="1"/>
          </p:nvPr>
        </p:nvSpPr>
        <p:spPr>
          <a:xfrm>
            <a:off x="838200" y="1042220"/>
            <a:ext cx="10515600" cy="5134743"/>
          </a:xfrm>
        </p:spPr>
        <p:txBody>
          <a:bodyPr>
            <a:normAutofit fontScale="77500" lnSpcReduction="20000"/>
          </a:bodyPr>
          <a:lstStyle/>
          <a:p>
            <a:r>
              <a:rPr lang="en-IN" dirty="0"/>
              <a:t>Here we are not wasting a single cycle unless if after any given </a:t>
            </a:r>
            <a:r>
              <a:rPr lang="en-IN" dirty="0" err="1"/>
              <a:t>burst_type</a:t>
            </a:r>
            <a:r>
              <a:rPr lang="en-IN" dirty="0"/>
              <a:t> we give any other </a:t>
            </a:r>
            <a:r>
              <a:rPr lang="en-IN" dirty="0" err="1"/>
              <a:t>burst_type</a:t>
            </a:r>
            <a:r>
              <a:rPr lang="en-IN" dirty="0"/>
              <a:t> but after a delay of 2 or more than 2 cycles, if this case happen then </a:t>
            </a:r>
            <a:r>
              <a:rPr lang="en-IN" dirty="0" err="1"/>
              <a:t>burst_done</a:t>
            </a:r>
            <a:r>
              <a:rPr lang="en-IN" dirty="0"/>
              <a:t> becomes 1.</a:t>
            </a:r>
          </a:p>
          <a:p>
            <a:r>
              <a:rPr lang="en-IN" dirty="0"/>
              <a:t>Hence to start the new burst instantly after old burst we need to give </a:t>
            </a:r>
            <a:r>
              <a:rPr lang="en-IN" dirty="0" err="1"/>
              <a:t>burst_type</a:t>
            </a:r>
            <a:r>
              <a:rPr lang="en-IN" dirty="0"/>
              <a:t> and </a:t>
            </a:r>
            <a:r>
              <a:rPr lang="en-IN" dirty="0" err="1"/>
              <a:t>initial_address</a:t>
            </a:r>
            <a:r>
              <a:rPr lang="en-IN" dirty="0"/>
              <a:t> just after the </a:t>
            </a:r>
            <a:r>
              <a:rPr lang="en-IN" dirty="0" err="1"/>
              <a:t>negedge</a:t>
            </a:r>
            <a:r>
              <a:rPr lang="en-IN" dirty="0"/>
              <a:t> of clock where we are getting last address of previous burst, otherwise </a:t>
            </a:r>
            <a:r>
              <a:rPr lang="en-IN" dirty="0" err="1"/>
              <a:t>burst_done</a:t>
            </a:r>
            <a:r>
              <a:rPr lang="en-IN" dirty="0"/>
              <a:t> becomes 1 and after that if we want to start new burst then we need to give trans = 2’b00 in testbench so that </a:t>
            </a:r>
            <a:r>
              <a:rPr lang="en-IN" dirty="0" err="1"/>
              <a:t>burst_done</a:t>
            </a:r>
            <a:r>
              <a:rPr lang="en-IN" dirty="0"/>
              <a:t> becomes 0 and then we can give new </a:t>
            </a:r>
            <a:r>
              <a:rPr lang="en-IN" dirty="0" err="1"/>
              <a:t>burst_type</a:t>
            </a:r>
            <a:r>
              <a:rPr lang="en-IN" dirty="0"/>
              <a:t> and </a:t>
            </a:r>
            <a:r>
              <a:rPr lang="en-IN" dirty="0" err="1"/>
              <a:t>initial_address</a:t>
            </a:r>
            <a:r>
              <a:rPr lang="en-IN" dirty="0"/>
              <a:t>, but in this situation it wastes 2 extra cycles.</a:t>
            </a:r>
          </a:p>
          <a:p>
            <a:r>
              <a:rPr lang="en-IN" dirty="0"/>
              <a:t>Only in </a:t>
            </a:r>
            <a:r>
              <a:rPr lang="en-IN" dirty="0" err="1"/>
              <a:t>burst_type</a:t>
            </a:r>
            <a:r>
              <a:rPr lang="en-IN" dirty="0"/>
              <a:t> = 3’b001 we do not have </a:t>
            </a:r>
            <a:r>
              <a:rPr lang="en-IN" dirty="0" err="1"/>
              <a:t>burst_done</a:t>
            </a:r>
            <a:r>
              <a:rPr lang="en-IN" dirty="0"/>
              <a:t> logic, because it depends on user when he/she want to  complete the burst, hence when user want to complete the burst then just need to give trans = 2’b00. </a:t>
            </a:r>
          </a:p>
          <a:p>
            <a:r>
              <a:rPr lang="en-IN" dirty="0"/>
              <a:t>Here </a:t>
            </a:r>
            <a:r>
              <a:rPr lang="en-IN" dirty="0" err="1"/>
              <a:t>burst_done</a:t>
            </a:r>
            <a:r>
              <a:rPr lang="en-IN" dirty="0"/>
              <a:t> is a necessary part because if we not require any new </a:t>
            </a:r>
            <a:r>
              <a:rPr lang="en-IN" dirty="0" err="1"/>
              <a:t>burst_type</a:t>
            </a:r>
            <a:r>
              <a:rPr lang="en-IN" dirty="0"/>
              <a:t> then previous burst not repeats it self and get saturated after beat completion. </a:t>
            </a:r>
          </a:p>
          <a:p>
            <a:r>
              <a:rPr lang="en-IN" dirty="0"/>
              <a:t>Hence increasing data processing speed is a crucial step, so we required to give </a:t>
            </a:r>
            <a:r>
              <a:rPr lang="en-IN" dirty="0" err="1"/>
              <a:t>burst_type</a:t>
            </a:r>
            <a:r>
              <a:rPr lang="en-IN" dirty="0"/>
              <a:t> and </a:t>
            </a:r>
            <a:r>
              <a:rPr lang="en-IN" dirty="0" err="1"/>
              <a:t>initial_addresses</a:t>
            </a:r>
            <a:r>
              <a:rPr lang="en-IN" dirty="0"/>
              <a:t> at the moment when previous burst last address is given from master, this insures that we not waste any single clock cycle.</a:t>
            </a:r>
          </a:p>
          <a:p>
            <a:endParaRPr lang="en-IN" dirty="0"/>
          </a:p>
        </p:txBody>
      </p:sp>
    </p:spTree>
    <p:extLst>
      <p:ext uri="{BB962C8B-B14F-4D97-AF65-F5344CB8AC3E}">
        <p14:creationId xmlns:p14="http://schemas.microsoft.com/office/powerpoint/2010/main" val="415737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CD586D3-4F91-8D8E-9C2B-42FD72E63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BB373-13C7-F8EB-D857-C0E6FE0D107F}"/>
              </a:ext>
            </a:extLst>
          </p:cNvPr>
          <p:cNvSpPr>
            <a:spLocks noGrp="1"/>
          </p:cNvSpPr>
          <p:nvPr>
            <p:ph type="title"/>
          </p:nvPr>
        </p:nvSpPr>
        <p:spPr>
          <a:xfrm>
            <a:off x="838200" y="365126"/>
            <a:ext cx="10515600" cy="677094"/>
          </a:xfrm>
        </p:spPr>
        <p:txBody>
          <a:bodyPr>
            <a:normAutofit/>
          </a:bodyPr>
          <a:lstStyle/>
          <a:p>
            <a:pPr algn="ctr"/>
            <a:r>
              <a:rPr lang="en-IN" sz="3600" dirty="0" err="1"/>
              <a:t>burst_type</a:t>
            </a:r>
            <a:r>
              <a:rPr lang="en-IN" sz="3600" dirty="0"/>
              <a:t>:</a:t>
            </a:r>
          </a:p>
        </p:txBody>
      </p:sp>
      <p:sp>
        <p:nvSpPr>
          <p:cNvPr id="3" name="Content Placeholder 2">
            <a:extLst>
              <a:ext uri="{FF2B5EF4-FFF2-40B4-BE49-F238E27FC236}">
                <a16:creationId xmlns:a16="http://schemas.microsoft.com/office/drawing/2014/main" id="{692981EE-F718-56B4-3C0E-92053B060F97}"/>
              </a:ext>
            </a:extLst>
          </p:cNvPr>
          <p:cNvSpPr>
            <a:spLocks noGrp="1"/>
          </p:cNvSpPr>
          <p:nvPr>
            <p:ph idx="1"/>
          </p:nvPr>
        </p:nvSpPr>
        <p:spPr>
          <a:xfrm>
            <a:off x="838200" y="1042220"/>
            <a:ext cx="10515600" cy="5134743"/>
          </a:xfrm>
        </p:spPr>
        <p:txBody>
          <a:bodyPr>
            <a:normAutofit fontScale="85000" lnSpcReduction="20000"/>
          </a:bodyPr>
          <a:lstStyle/>
          <a:p>
            <a:r>
              <a:rPr lang="en-IN" dirty="0"/>
              <a:t>In this situation we get a case that if we want previous burst to happen again just after that previous burst only then we do what?</a:t>
            </a:r>
          </a:p>
          <a:p>
            <a:r>
              <a:rPr lang="en-IN" dirty="0"/>
              <a:t>For this we have a input signal called “again”, this input signal uses only when we want same burst without any single clock cycle wastage.</a:t>
            </a:r>
          </a:p>
          <a:p>
            <a:r>
              <a:rPr lang="en-IN" dirty="0"/>
              <a:t>Assume you not give again = 1, then in this situation burst get saturated(</a:t>
            </a:r>
            <a:r>
              <a:rPr lang="en-IN" dirty="0" err="1"/>
              <a:t>burst_done</a:t>
            </a:r>
            <a:r>
              <a:rPr lang="en-IN" dirty="0"/>
              <a:t> = 1) and you need to give trans = 2’b00 so that </a:t>
            </a:r>
            <a:r>
              <a:rPr lang="en-IN" dirty="0" err="1"/>
              <a:t>burst_done</a:t>
            </a:r>
            <a:r>
              <a:rPr lang="en-IN" dirty="0"/>
              <a:t> = 0, hence this takes 2 extra cycles and it makes speed of protocol slower, remember that after every long time when you give new </a:t>
            </a:r>
            <a:r>
              <a:rPr lang="en-IN" dirty="0" err="1"/>
              <a:t>burst_type</a:t>
            </a:r>
            <a:r>
              <a:rPr lang="en-IN" dirty="0"/>
              <a:t> then it takes 2 extra cycles to start. </a:t>
            </a:r>
          </a:p>
          <a:p>
            <a:r>
              <a:rPr lang="en-IN" dirty="0"/>
              <a:t>Why it takes 2 extra cycle?</a:t>
            </a:r>
          </a:p>
          <a:p>
            <a:pPr marL="0" indent="0">
              <a:buNone/>
            </a:pPr>
            <a:r>
              <a:rPr lang="en-IN" dirty="0"/>
              <a:t>Remember given input in testbench if it is synchronized with HCLK comes in action       after next </a:t>
            </a:r>
            <a:r>
              <a:rPr lang="en-IN" dirty="0" err="1"/>
              <a:t>negedge</a:t>
            </a:r>
            <a:r>
              <a:rPr lang="en-IN" dirty="0"/>
              <a:t> of HCLK only, so when if you not give any new </a:t>
            </a:r>
            <a:r>
              <a:rPr lang="en-IN" dirty="0" err="1"/>
              <a:t>burst_type</a:t>
            </a:r>
            <a:r>
              <a:rPr lang="en-IN" dirty="0"/>
              <a:t> and </a:t>
            </a:r>
            <a:r>
              <a:rPr lang="en-IN" dirty="0" err="1"/>
              <a:t>initial_address</a:t>
            </a:r>
            <a:r>
              <a:rPr lang="en-IN" dirty="0"/>
              <a:t> then </a:t>
            </a:r>
            <a:r>
              <a:rPr lang="en-IN" dirty="0" err="1"/>
              <a:t>burst_done</a:t>
            </a:r>
            <a:r>
              <a:rPr lang="en-IN" dirty="0"/>
              <a:t> becomes 1 hence to start again we need to give trans = 2’b00 so that </a:t>
            </a:r>
            <a:r>
              <a:rPr lang="en-IN" dirty="0" err="1"/>
              <a:t>burst_done</a:t>
            </a:r>
            <a:r>
              <a:rPr lang="en-IN" dirty="0"/>
              <a:t> becomes 0 as discussed above, so 1 cycle of burst done = 1 and other cycle of </a:t>
            </a:r>
            <a:r>
              <a:rPr lang="en-IN" dirty="0" err="1"/>
              <a:t>burst_done</a:t>
            </a:r>
            <a:r>
              <a:rPr lang="en-IN" dirty="0"/>
              <a:t> = 0 and when </a:t>
            </a:r>
            <a:r>
              <a:rPr lang="en-IN" dirty="0" err="1"/>
              <a:t>burst_done</a:t>
            </a:r>
            <a:r>
              <a:rPr lang="en-IN" dirty="0"/>
              <a:t> = 0 it comes only in action after next </a:t>
            </a:r>
            <a:r>
              <a:rPr lang="en-IN" dirty="0" err="1"/>
              <a:t>negedge</a:t>
            </a:r>
            <a:r>
              <a:rPr lang="en-IN" dirty="0"/>
              <a:t> of HCLK, in this situation it takes one more cycle and   total of 2 cycles are taken to come in action.</a:t>
            </a:r>
          </a:p>
        </p:txBody>
      </p:sp>
    </p:spTree>
    <p:extLst>
      <p:ext uri="{BB962C8B-B14F-4D97-AF65-F5344CB8AC3E}">
        <p14:creationId xmlns:p14="http://schemas.microsoft.com/office/powerpoint/2010/main" val="655415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B917EF81-FC56-1354-51F2-3EBA420AC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67DD8-98B2-9B47-FBB3-48B3B4703565}"/>
              </a:ext>
            </a:extLst>
          </p:cNvPr>
          <p:cNvSpPr>
            <a:spLocks noGrp="1"/>
          </p:cNvSpPr>
          <p:nvPr>
            <p:ph type="title"/>
          </p:nvPr>
        </p:nvSpPr>
        <p:spPr>
          <a:xfrm>
            <a:off x="838200" y="365126"/>
            <a:ext cx="10515600" cy="677094"/>
          </a:xfrm>
        </p:spPr>
        <p:txBody>
          <a:bodyPr>
            <a:normAutofit/>
          </a:bodyPr>
          <a:lstStyle/>
          <a:p>
            <a:pPr algn="ctr"/>
            <a:r>
              <a:rPr lang="en-IN" sz="3600" dirty="0" err="1"/>
              <a:t>burst_type</a:t>
            </a:r>
            <a:r>
              <a:rPr lang="en-IN" sz="3600" dirty="0"/>
              <a:t>:</a:t>
            </a:r>
          </a:p>
        </p:txBody>
      </p:sp>
      <p:sp>
        <p:nvSpPr>
          <p:cNvPr id="3" name="Content Placeholder 2">
            <a:extLst>
              <a:ext uri="{FF2B5EF4-FFF2-40B4-BE49-F238E27FC236}">
                <a16:creationId xmlns:a16="http://schemas.microsoft.com/office/drawing/2014/main" id="{72ABEAF6-59FE-BB72-9B73-E3F63CD1B92B}"/>
              </a:ext>
            </a:extLst>
          </p:cNvPr>
          <p:cNvSpPr>
            <a:spLocks noGrp="1"/>
          </p:cNvSpPr>
          <p:nvPr>
            <p:ph idx="1"/>
          </p:nvPr>
        </p:nvSpPr>
        <p:spPr>
          <a:xfrm>
            <a:off x="838200" y="1042220"/>
            <a:ext cx="10515600" cy="5134743"/>
          </a:xfrm>
        </p:spPr>
        <p:txBody>
          <a:bodyPr>
            <a:normAutofit fontScale="70000" lnSpcReduction="20000"/>
          </a:bodyPr>
          <a:lstStyle/>
          <a:p>
            <a:pPr marL="0" indent="0">
              <a:buNone/>
            </a:pPr>
            <a:r>
              <a:rPr lang="en-IN" dirty="0"/>
              <a:t>Below I discussed few limitations of this RTL design burst logic:</a:t>
            </a:r>
          </a:p>
          <a:p>
            <a:r>
              <a:rPr lang="en-IN" dirty="0"/>
              <a:t>For starting a new burst, the initial counter value for that burst is set 0, when it starts counting, counter value starts increasing and increases till last beat value, and then becomes 0 again, here my main purpose is to increase speed or not waste any single cycle of HCLK unless </a:t>
            </a:r>
            <a:r>
              <a:rPr lang="en-IN" dirty="0" err="1"/>
              <a:t>burst_done</a:t>
            </a:r>
            <a:r>
              <a:rPr lang="en-IN" dirty="0"/>
              <a:t> = 1, I use different counters for different </a:t>
            </a:r>
            <a:r>
              <a:rPr lang="en-IN" dirty="0" err="1"/>
              <a:t>burst_type</a:t>
            </a:r>
            <a:r>
              <a:rPr lang="en-IN" dirty="0"/>
              <a:t>, you can use single counter too but for that when your counter value = last beat – 1, then you need to make it 0 and when next </a:t>
            </a:r>
            <a:r>
              <a:rPr lang="en-IN" dirty="0" err="1"/>
              <a:t>negedge</a:t>
            </a:r>
            <a:r>
              <a:rPr lang="en-IN" dirty="0"/>
              <a:t> of HCLK comes then it starts again counting from 1, for this you need to change logics of wrapping and incrementing in my code, previously when I am working on this and got stuck then I just thought for different counter, it has only limitation that number of flip flops and multiplexers increases but increasing few hundred of more digital devices is not a big issue of occupying more space in single chip.</a:t>
            </a:r>
          </a:p>
          <a:p>
            <a:r>
              <a:rPr lang="en-IN" dirty="0"/>
              <a:t>Here the best way to code for different </a:t>
            </a:r>
            <a:r>
              <a:rPr lang="en-IN" dirty="0" err="1"/>
              <a:t>burst_type</a:t>
            </a:r>
            <a:r>
              <a:rPr lang="en-IN" dirty="0"/>
              <a:t> is to use case statements, I use multiple always blocks, which in turn increases code length, later on when I thought of it then I just thought that </a:t>
            </a:r>
            <a:r>
              <a:rPr lang="en-IN" dirty="0" err="1"/>
              <a:t>okk</a:t>
            </a:r>
            <a:r>
              <a:rPr lang="en-IN" dirty="0"/>
              <a:t> I am just using more code space.</a:t>
            </a:r>
          </a:p>
          <a:p>
            <a:r>
              <a:rPr lang="en-IN" dirty="0"/>
              <a:t>If you give new </a:t>
            </a:r>
            <a:r>
              <a:rPr lang="en-IN" dirty="0" err="1"/>
              <a:t>burst_type</a:t>
            </a:r>
            <a:r>
              <a:rPr lang="en-IN" dirty="0"/>
              <a:t> in between previous burst is going now then it completely starts with that new </a:t>
            </a:r>
            <a:r>
              <a:rPr lang="en-IN" dirty="0" err="1"/>
              <a:t>burst_type</a:t>
            </a:r>
            <a:r>
              <a:rPr lang="en-IN" dirty="0"/>
              <a:t>. I thought that </a:t>
            </a:r>
            <a:r>
              <a:rPr lang="en-IN" dirty="0" err="1"/>
              <a:t>burst_type</a:t>
            </a:r>
            <a:r>
              <a:rPr lang="en-IN" dirty="0"/>
              <a:t> is user defined currently and HBURST is forming according to that, so whenever user need instant new burst data between any burst so he/she just need to give new </a:t>
            </a:r>
            <a:r>
              <a:rPr lang="en-IN" dirty="0" err="1"/>
              <a:t>burst_type</a:t>
            </a:r>
            <a:r>
              <a:rPr lang="en-IN" dirty="0"/>
              <a:t>. </a:t>
            </a:r>
          </a:p>
          <a:p>
            <a:pPr marL="0" indent="0">
              <a:buNone/>
            </a:pPr>
            <a:r>
              <a:rPr lang="en-IN" dirty="0"/>
              <a:t>I will remove these limitations soon.</a:t>
            </a:r>
          </a:p>
        </p:txBody>
      </p:sp>
    </p:spTree>
    <p:extLst>
      <p:ext uri="{BB962C8B-B14F-4D97-AF65-F5344CB8AC3E}">
        <p14:creationId xmlns:p14="http://schemas.microsoft.com/office/powerpoint/2010/main" val="1470470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BFC063D9-1D2E-982A-84C7-38999B80A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24AFB-D510-902B-2013-07B3AADF482D}"/>
              </a:ext>
            </a:extLst>
          </p:cNvPr>
          <p:cNvSpPr>
            <a:spLocks noGrp="1"/>
          </p:cNvSpPr>
          <p:nvPr>
            <p:ph type="title"/>
          </p:nvPr>
        </p:nvSpPr>
        <p:spPr>
          <a:xfrm>
            <a:off x="838200" y="365126"/>
            <a:ext cx="10515600" cy="677094"/>
          </a:xfrm>
        </p:spPr>
        <p:txBody>
          <a:bodyPr>
            <a:normAutofit/>
          </a:bodyPr>
          <a:lstStyle/>
          <a:p>
            <a:pPr algn="ctr"/>
            <a:r>
              <a:rPr lang="en-IN" sz="3600" dirty="0"/>
              <a:t>HBURST and HTRANS:</a:t>
            </a:r>
          </a:p>
        </p:txBody>
      </p:sp>
      <p:sp>
        <p:nvSpPr>
          <p:cNvPr id="3" name="Content Placeholder 2">
            <a:extLst>
              <a:ext uri="{FF2B5EF4-FFF2-40B4-BE49-F238E27FC236}">
                <a16:creationId xmlns:a16="http://schemas.microsoft.com/office/drawing/2014/main" id="{53D8131C-3CED-1C85-5A70-459CCD6439DE}"/>
              </a:ext>
            </a:extLst>
          </p:cNvPr>
          <p:cNvSpPr>
            <a:spLocks noGrp="1"/>
          </p:cNvSpPr>
          <p:nvPr>
            <p:ph idx="1"/>
          </p:nvPr>
        </p:nvSpPr>
        <p:spPr>
          <a:xfrm>
            <a:off x="838200" y="1042220"/>
            <a:ext cx="10515600" cy="5134743"/>
          </a:xfrm>
        </p:spPr>
        <p:txBody>
          <a:bodyPr>
            <a:normAutofit fontScale="77500" lnSpcReduction="20000"/>
          </a:bodyPr>
          <a:lstStyle/>
          <a:p>
            <a:r>
              <a:rPr lang="en-IN" dirty="0"/>
              <a:t>Whenever new burst starts then whatever the </a:t>
            </a:r>
            <a:r>
              <a:rPr lang="en-IN" dirty="0" err="1"/>
              <a:t>burst_type</a:t>
            </a:r>
            <a:r>
              <a:rPr lang="en-IN" dirty="0"/>
              <a:t> is given, HBURST set according to that.</a:t>
            </a:r>
          </a:p>
          <a:p>
            <a:r>
              <a:rPr lang="en-IN" dirty="0"/>
              <a:t>When new HBRUST occur then first HADDR is non sequential and then it becomes sequential. So HTRANS = 2’b10 in starting of burst then becomes 2’b11 till last beat.</a:t>
            </a:r>
          </a:p>
          <a:p>
            <a:r>
              <a:rPr lang="en-IN" dirty="0"/>
              <a:t>When master is in IDLE(2’b00) condition, means no any read and write operation, hence master do no give or take data. </a:t>
            </a:r>
          </a:p>
          <a:p>
            <a:r>
              <a:rPr lang="en-IN" dirty="0"/>
              <a:t>There is one more signal of HTRANS = 2’b01 which is BUSY state, master just give that signal between any burst when it stuck at any other task, in that case too master not take or give any data. </a:t>
            </a:r>
          </a:p>
          <a:p>
            <a:pPr marL="0" indent="0">
              <a:buNone/>
            </a:pPr>
            <a:r>
              <a:rPr lang="en-IN" dirty="0"/>
              <a:t>Main difference between IDLE and BUSY:</a:t>
            </a:r>
          </a:p>
          <a:p>
            <a:r>
              <a:rPr lang="en-US" dirty="0"/>
              <a:t>IDLE (2'b00) is hanging up the phone. The Master is saying "I have no more data for you. Our conversation is over." If the Master wants to talk to that Slave again, it has to dial the number again (send a brand new NONSEQ command).</a:t>
            </a:r>
          </a:p>
          <a:p>
            <a:r>
              <a:rPr lang="en-US" dirty="0"/>
              <a:t>BUSY (2'b01) is putting the Slave on hold. The Master is saying "We are in the middle of a burst, and I am not done talking to you. But my internal brain needs a second to fetch the next word. DO NOT hang up, I will be right back“.</a:t>
            </a:r>
          </a:p>
          <a:p>
            <a:endParaRPr lang="en-IN" dirty="0"/>
          </a:p>
          <a:p>
            <a:endParaRPr lang="en-IN" dirty="0"/>
          </a:p>
        </p:txBody>
      </p:sp>
    </p:spTree>
    <p:extLst>
      <p:ext uri="{BB962C8B-B14F-4D97-AF65-F5344CB8AC3E}">
        <p14:creationId xmlns:p14="http://schemas.microsoft.com/office/powerpoint/2010/main" val="144033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8EA63D21-6A3E-D8CC-CBA4-4D9E6C2DE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BDB87-9720-8AB9-0328-303890128A0B}"/>
              </a:ext>
            </a:extLst>
          </p:cNvPr>
          <p:cNvSpPr>
            <a:spLocks noGrp="1"/>
          </p:cNvSpPr>
          <p:nvPr>
            <p:ph type="title"/>
          </p:nvPr>
        </p:nvSpPr>
        <p:spPr>
          <a:xfrm>
            <a:off x="838200" y="365126"/>
            <a:ext cx="10515600" cy="677094"/>
          </a:xfrm>
        </p:spPr>
        <p:txBody>
          <a:bodyPr>
            <a:normAutofit/>
          </a:bodyPr>
          <a:lstStyle/>
          <a:p>
            <a:pPr algn="ctr"/>
            <a:r>
              <a:rPr lang="en-IN" sz="3600" dirty="0"/>
              <a:t>The HADDR_M logic:</a:t>
            </a:r>
          </a:p>
        </p:txBody>
      </p:sp>
      <p:sp>
        <p:nvSpPr>
          <p:cNvPr id="3" name="Content Placeholder 2">
            <a:extLst>
              <a:ext uri="{FF2B5EF4-FFF2-40B4-BE49-F238E27FC236}">
                <a16:creationId xmlns:a16="http://schemas.microsoft.com/office/drawing/2014/main" id="{834B31D0-58D9-F744-45F4-DB5DF88A7536}"/>
              </a:ext>
            </a:extLst>
          </p:cNvPr>
          <p:cNvSpPr>
            <a:spLocks noGrp="1"/>
          </p:cNvSpPr>
          <p:nvPr>
            <p:ph idx="1"/>
          </p:nvPr>
        </p:nvSpPr>
        <p:spPr>
          <a:xfrm>
            <a:off x="838200" y="1042220"/>
            <a:ext cx="10515600" cy="5134743"/>
          </a:xfrm>
        </p:spPr>
        <p:txBody>
          <a:bodyPr>
            <a:normAutofit fontScale="85000" lnSpcReduction="20000"/>
          </a:bodyPr>
          <a:lstStyle/>
          <a:p>
            <a:r>
              <a:rPr lang="en-IN" dirty="0"/>
              <a:t>Master is independent candidate in reading and writing data, it is the choice of master where it want to store data in its own memory and where it from where I want to give data from its own memory too.</a:t>
            </a:r>
          </a:p>
          <a:p>
            <a:r>
              <a:rPr lang="en-IN" dirty="0"/>
              <a:t>In general it stores and give data sequentially as address increases, we give initial address of master memory as </a:t>
            </a:r>
            <a:r>
              <a:rPr lang="en-IN" dirty="0" err="1"/>
              <a:t>add_m</a:t>
            </a:r>
            <a:r>
              <a:rPr lang="en-IN" dirty="0"/>
              <a:t> which is input and given in testbench. HADDR_M is synchronized with HADDR, see whatever the burst it’s the choice of master to give it according to initial address or </a:t>
            </a:r>
            <a:r>
              <a:rPr lang="en-IN" dirty="0" err="1"/>
              <a:t>wrap_input</a:t>
            </a:r>
            <a:r>
              <a:rPr lang="en-IN" dirty="0"/>
              <a:t>. If we constantly increase HADDR_M with every </a:t>
            </a:r>
            <a:r>
              <a:rPr lang="en-IN" dirty="0" err="1"/>
              <a:t>negedge</a:t>
            </a:r>
            <a:r>
              <a:rPr lang="en-IN" dirty="0"/>
              <a:t> of HCLK then it wastes too much to memory in case when we are in IDLE condition, hence we need that HADDR_M must be synchronized with HADDR hence no memory wastage happens.</a:t>
            </a:r>
          </a:p>
          <a:p>
            <a:r>
              <a:rPr lang="en-IN" dirty="0"/>
              <a:t>What if you want to start from any different HADDR_M between data transfer, as we start with 0 initial address but what if you want to starts with new initial address which again be 0 or any other value, for this we have ‘new’ input signal, which when given 1 along with </a:t>
            </a:r>
            <a:r>
              <a:rPr lang="en-IN" dirty="0" err="1"/>
              <a:t>add_m</a:t>
            </a:r>
            <a:r>
              <a:rPr lang="en-IN" dirty="0"/>
              <a:t> which decides new initial address and then starts increasing, remember that once you make new = 1 then after next clock make new = 0 otherwise it continuously starts from </a:t>
            </a:r>
            <a:r>
              <a:rPr lang="en-IN" dirty="0" err="1"/>
              <a:t>add_m</a:t>
            </a:r>
            <a:r>
              <a:rPr lang="en-IN" dirty="0"/>
              <a:t> and change only </a:t>
            </a:r>
            <a:r>
              <a:rPr lang="en-IN" dirty="0" err="1"/>
              <a:t>add_m</a:t>
            </a:r>
            <a:r>
              <a:rPr lang="en-IN" dirty="0"/>
              <a:t> and not increases.</a:t>
            </a:r>
          </a:p>
          <a:p>
            <a:endParaRPr lang="en-IN" dirty="0"/>
          </a:p>
          <a:p>
            <a:endParaRPr lang="en-IN" dirty="0"/>
          </a:p>
        </p:txBody>
      </p:sp>
    </p:spTree>
    <p:extLst>
      <p:ext uri="{BB962C8B-B14F-4D97-AF65-F5344CB8AC3E}">
        <p14:creationId xmlns:p14="http://schemas.microsoft.com/office/powerpoint/2010/main" val="2132211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D29BB67-325A-B9D1-AC1D-E3ADCBA4E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E5B91-668C-9A34-FD82-DA96B444569F}"/>
              </a:ext>
            </a:extLst>
          </p:cNvPr>
          <p:cNvSpPr>
            <a:spLocks noGrp="1"/>
          </p:cNvSpPr>
          <p:nvPr>
            <p:ph type="title"/>
          </p:nvPr>
        </p:nvSpPr>
        <p:spPr>
          <a:xfrm>
            <a:off x="838200" y="365126"/>
            <a:ext cx="10515600" cy="677094"/>
          </a:xfrm>
        </p:spPr>
        <p:txBody>
          <a:bodyPr>
            <a:normAutofit/>
          </a:bodyPr>
          <a:lstStyle/>
          <a:p>
            <a:pPr algn="ctr"/>
            <a:r>
              <a:rPr lang="en-IN" sz="3600" dirty="0"/>
              <a:t>Pipelining the MUX :</a:t>
            </a:r>
          </a:p>
        </p:txBody>
      </p:sp>
      <p:sp>
        <p:nvSpPr>
          <p:cNvPr id="3" name="Content Placeholder 2">
            <a:extLst>
              <a:ext uri="{FF2B5EF4-FFF2-40B4-BE49-F238E27FC236}">
                <a16:creationId xmlns:a16="http://schemas.microsoft.com/office/drawing/2014/main" id="{1BB34C10-6DA4-3B22-589F-223610FBFDC9}"/>
              </a:ext>
            </a:extLst>
          </p:cNvPr>
          <p:cNvSpPr>
            <a:spLocks noGrp="1"/>
          </p:cNvSpPr>
          <p:nvPr>
            <p:ph idx="1"/>
          </p:nvPr>
        </p:nvSpPr>
        <p:spPr>
          <a:xfrm>
            <a:off x="838200" y="1042220"/>
            <a:ext cx="10515600" cy="5134743"/>
          </a:xfrm>
        </p:spPr>
        <p:txBody>
          <a:bodyPr>
            <a:normAutofit fontScale="92500" lnSpcReduction="10000"/>
          </a:bodyPr>
          <a:lstStyle/>
          <a:p>
            <a:r>
              <a:rPr lang="en-IN" dirty="0"/>
              <a:t>When we are about to change slave and give new initial addresses- add and </a:t>
            </a:r>
            <a:r>
              <a:rPr lang="en-IN" dirty="0" err="1"/>
              <a:t>wrap_input</a:t>
            </a:r>
            <a:r>
              <a:rPr lang="en-IN" dirty="0"/>
              <a:t>(for wrapping burst) then last address value of previous burst of previous salve is not loaded because </a:t>
            </a:r>
            <a:r>
              <a:rPr lang="en-IN" dirty="0" err="1"/>
              <a:t>m_select</a:t>
            </a:r>
            <a:r>
              <a:rPr lang="en-IN" dirty="0"/>
              <a:t> is level triggered and instantly when </a:t>
            </a:r>
            <a:r>
              <a:rPr lang="en-IN" dirty="0" err="1"/>
              <a:t>m_select</a:t>
            </a:r>
            <a:r>
              <a:rPr lang="en-IN" dirty="0"/>
              <a:t> changes then mux switches to new HRDATA and last data completely get </a:t>
            </a:r>
            <a:r>
              <a:rPr lang="en-IN" dirty="0" err="1"/>
              <a:t>losts</a:t>
            </a:r>
            <a:r>
              <a:rPr lang="en-IN" dirty="0"/>
              <a:t>.</a:t>
            </a:r>
          </a:p>
          <a:p>
            <a:r>
              <a:rPr lang="en-IN" dirty="0"/>
              <a:t>To avoid this problem we just need to think that whatever </a:t>
            </a:r>
            <a:r>
              <a:rPr lang="en-IN" dirty="0" err="1"/>
              <a:t>m_select</a:t>
            </a:r>
            <a:r>
              <a:rPr lang="en-IN" dirty="0"/>
              <a:t> we are giving to mux is same as the </a:t>
            </a:r>
            <a:r>
              <a:rPr lang="en-IN" dirty="0" err="1"/>
              <a:t>m_select</a:t>
            </a:r>
            <a:r>
              <a:rPr lang="en-IN" dirty="0"/>
              <a:t> coming from decoder and it is obvious, but if it get delayed by one cycle then whenever </a:t>
            </a:r>
            <a:r>
              <a:rPr lang="en-IN" dirty="0" err="1"/>
              <a:t>m_select</a:t>
            </a:r>
            <a:r>
              <a:rPr lang="en-IN" dirty="0"/>
              <a:t> coming from decoder changes, then the input </a:t>
            </a:r>
            <a:r>
              <a:rPr lang="en-IN" dirty="0" err="1"/>
              <a:t>m_select</a:t>
            </a:r>
            <a:r>
              <a:rPr lang="en-IN" dirty="0"/>
              <a:t> for mux changes one HCLK cycle later, hence last address value of previous burst of previous salve is loaded at the starting of new </a:t>
            </a:r>
            <a:r>
              <a:rPr lang="en-IN" dirty="0" err="1"/>
              <a:t>burst_type</a:t>
            </a:r>
            <a:r>
              <a:rPr lang="en-IN" dirty="0"/>
              <a:t> and then other data of new </a:t>
            </a:r>
            <a:r>
              <a:rPr lang="en-IN" dirty="0" err="1"/>
              <a:t>burst_type</a:t>
            </a:r>
            <a:r>
              <a:rPr lang="en-IN" dirty="0"/>
              <a:t> starts loading, hence in this scenario we do not waste any cycle and jump to other slave. For this we need to give a new register </a:t>
            </a:r>
            <a:r>
              <a:rPr lang="en-IN" dirty="0" err="1"/>
              <a:t>m_delayed</a:t>
            </a:r>
            <a:r>
              <a:rPr lang="en-IN" dirty="0"/>
              <a:t> in top module and code it such that it get its value after </a:t>
            </a:r>
            <a:r>
              <a:rPr lang="en-IN" dirty="0" err="1"/>
              <a:t>negedge</a:t>
            </a:r>
            <a:r>
              <a:rPr lang="en-IN" dirty="0"/>
              <a:t> of HCLK from </a:t>
            </a:r>
            <a:r>
              <a:rPr lang="en-IN" dirty="0" err="1"/>
              <a:t>m_select</a:t>
            </a:r>
            <a:r>
              <a:rPr lang="en-IN" dirty="0"/>
              <a:t>, hence get one cycle delayed.</a:t>
            </a:r>
          </a:p>
          <a:p>
            <a:endParaRPr lang="en-IN" dirty="0"/>
          </a:p>
        </p:txBody>
      </p:sp>
    </p:spTree>
    <p:extLst>
      <p:ext uri="{BB962C8B-B14F-4D97-AF65-F5344CB8AC3E}">
        <p14:creationId xmlns:p14="http://schemas.microsoft.com/office/powerpoint/2010/main" val="118676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E9A68-6704-446C-2D0C-B2E5C9A1CF92}"/>
              </a:ext>
            </a:extLst>
          </p:cNvPr>
          <p:cNvSpPr>
            <a:spLocks noGrp="1"/>
          </p:cNvSpPr>
          <p:nvPr>
            <p:ph type="title"/>
          </p:nvPr>
        </p:nvSpPr>
        <p:spPr>
          <a:xfrm>
            <a:off x="838200" y="365126"/>
            <a:ext cx="10515600" cy="745920"/>
          </a:xfrm>
        </p:spPr>
        <p:txBody>
          <a:bodyPr/>
          <a:lstStyle/>
          <a:p>
            <a:pPr algn="ctr"/>
            <a:r>
              <a:rPr lang="en-IN" dirty="0"/>
              <a:t>Verified output waveform:</a:t>
            </a:r>
          </a:p>
        </p:txBody>
      </p:sp>
      <p:pic>
        <p:nvPicPr>
          <p:cNvPr id="5" name="Content Placeholder 4">
            <a:extLst>
              <a:ext uri="{FF2B5EF4-FFF2-40B4-BE49-F238E27FC236}">
                <a16:creationId xmlns:a16="http://schemas.microsoft.com/office/drawing/2014/main" id="{3FF00681-03D1-EC2A-36B3-0E1F6B08F586}"/>
              </a:ext>
            </a:extLst>
          </p:cNvPr>
          <p:cNvPicPr>
            <a:picLocks noGrp="1" noChangeAspect="1"/>
          </p:cNvPicPr>
          <p:nvPr>
            <p:ph idx="1"/>
          </p:nvPr>
        </p:nvPicPr>
        <p:blipFill>
          <a:blip r:embed="rId3"/>
          <a:stretch>
            <a:fillRect/>
          </a:stretch>
        </p:blipFill>
        <p:spPr>
          <a:xfrm>
            <a:off x="0" y="1111045"/>
            <a:ext cx="12192000" cy="5299915"/>
          </a:xfrm>
          <a:prstGeom prst="rect">
            <a:avLst/>
          </a:prstGeom>
        </p:spPr>
      </p:pic>
    </p:spTree>
    <p:extLst>
      <p:ext uri="{BB962C8B-B14F-4D97-AF65-F5344CB8AC3E}">
        <p14:creationId xmlns:p14="http://schemas.microsoft.com/office/powerpoint/2010/main" val="1610345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0043B7C7-52B1-4A94-F25E-B4B12AD53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03425-A2E5-0696-16E9-C43ABC661C44}"/>
              </a:ext>
            </a:extLst>
          </p:cNvPr>
          <p:cNvSpPr>
            <a:spLocks noGrp="1"/>
          </p:cNvSpPr>
          <p:nvPr>
            <p:ph type="title"/>
          </p:nvPr>
        </p:nvSpPr>
        <p:spPr>
          <a:xfrm>
            <a:off x="838200" y="365126"/>
            <a:ext cx="10515600" cy="745920"/>
          </a:xfrm>
        </p:spPr>
        <p:txBody>
          <a:bodyPr/>
          <a:lstStyle/>
          <a:p>
            <a:pPr algn="ctr"/>
            <a:r>
              <a:rPr lang="en-IN" dirty="0"/>
              <a:t>Verified output waveform:</a:t>
            </a:r>
          </a:p>
        </p:txBody>
      </p:sp>
      <p:pic>
        <p:nvPicPr>
          <p:cNvPr id="10" name="Picture 9">
            <a:extLst>
              <a:ext uri="{FF2B5EF4-FFF2-40B4-BE49-F238E27FC236}">
                <a16:creationId xmlns:a16="http://schemas.microsoft.com/office/drawing/2014/main" id="{14ABDFE5-3BB9-8022-9307-355877E25B0B}"/>
              </a:ext>
            </a:extLst>
          </p:cNvPr>
          <p:cNvPicPr>
            <a:picLocks noChangeAspect="1"/>
          </p:cNvPicPr>
          <p:nvPr/>
        </p:nvPicPr>
        <p:blipFill>
          <a:blip r:embed="rId3"/>
          <a:stretch>
            <a:fillRect/>
          </a:stretch>
        </p:blipFill>
        <p:spPr>
          <a:xfrm>
            <a:off x="0" y="1111046"/>
            <a:ext cx="12191999" cy="5381827"/>
          </a:xfrm>
          <a:prstGeom prst="rect">
            <a:avLst/>
          </a:prstGeom>
        </p:spPr>
      </p:pic>
    </p:spTree>
    <p:extLst>
      <p:ext uri="{BB962C8B-B14F-4D97-AF65-F5344CB8AC3E}">
        <p14:creationId xmlns:p14="http://schemas.microsoft.com/office/powerpoint/2010/main" val="583248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49B7A2D5-0D2A-B14A-BC39-E9F8176A3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68063-714C-ACDF-0529-ACED4AE13E63}"/>
              </a:ext>
            </a:extLst>
          </p:cNvPr>
          <p:cNvSpPr>
            <a:spLocks noGrp="1"/>
          </p:cNvSpPr>
          <p:nvPr>
            <p:ph type="title"/>
          </p:nvPr>
        </p:nvSpPr>
        <p:spPr>
          <a:xfrm>
            <a:off x="838200" y="243206"/>
            <a:ext cx="10515600" cy="745920"/>
          </a:xfrm>
        </p:spPr>
        <p:txBody>
          <a:bodyPr>
            <a:normAutofit fontScale="90000"/>
          </a:bodyPr>
          <a:lstStyle/>
          <a:p>
            <a:pPr algn="ctr"/>
            <a:r>
              <a:rPr lang="en-IN" dirty="0"/>
              <a:t>Verified output waveform: Moving from one slave to other slave</a:t>
            </a:r>
          </a:p>
        </p:txBody>
      </p:sp>
      <p:pic>
        <p:nvPicPr>
          <p:cNvPr id="5" name="Picture 4">
            <a:extLst>
              <a:ext uri="{FF2B5EF4-FFF2-40B4-BE49-F238E27FC236}">
                <a16:creationId xmlns:a16="http://schemas.microsoft.com/office/drawing/2014/main" id="{F17E1C72-0000-2C8E-51B2-D63CBC89CCA3}"/>
              </a:ext>
            </a:extLst>
          </p:cNvPr>
          <p:cNvPicPr>
            <a:picLocks noChangeAspect="1"/>
          </p:cNvPicPr>
          <p:nvPr/>
        </p:nvPicPr>
        <p:blipFill>
          <a:blip r:embed="rId3"/>
          <a:stretch>
            <a:fillRect/>
          </a:stretch>
        </p:blipFill>
        <p:spPr>
          <a:xfrm>
            <a:off x="0" y="1111046"/>
            <a:ext cx="12192000" cy="5303647"/>
          </a:xfrm>
          <a:prstGeom prst="rect">
            <a:avLst/>
          </a:prstGeom>
        </p:spPr>
      </p:pic>
    </p:spTree>
    <p:extLst>
      <p:ext uri="{BB962C8B-B14F-4D97-AF65-F5344CB8AC3E}">
        <p14:creationId xmlns:p14="http://schemas.microsoft.com/office/powerpoint/2010/main" val="1146241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C022E-165A-2AD1-8192-33CC8BF9EB89}"/>
              </a:ext>
            </a:extLst>
          </p:cNvPr>
          <p:cNvSpPr>
            <a:spLocks noGrp="1"/>
          </p:cNvSpPr>
          <p:nvPr>
            <p:ph type="title"/>
          </p:nvPr>
        </p:nvSpPr>
        <p:spPr>
          <a:xfrm>
            <a:off x="838200" y="243206"/>
            <a:ext cx="10515600" cy="437832"/>
          </a:xfrm>
        </p:spPr>
        <p:txBody>
          <a:bodyPr>
            <a:normAutofit fontScale="90000"/>
          </a:bodyPr>
          <a:lstStyle/>
          <a:p>
            <a:pPr algn="ctr"/>
            <a:r>
              <a:rPr lang="en-IN" sz="3200" dirty="0"/>
              <a:t>Elaborated Design: Schematic</a:t>
            </a:r>
          </a:p>
        </p:txBody>
      </p:sp>
      <p:pic>
        <p:nvPicPr>
          <p:cNvPr id="9" name="Picture 8">
            <a:extLst>
              <a:ext uri="{FF2B5EF4-FFF2-40B4-BE49-F238E27FC236}">
                <a16:creationId xmlns:a16="http://schemas.microsoft.com/office/drawing/2014/main" id="{717CADC5-2683-3A89-63DB-8163FB19B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1038"/>
            <a:ext cx="12192000" cy="6176962"/>
          </a:xfrm>
          <a:prstGeom prst="rect">
            <a:avLst/>
          </a:prstGeom>
        </p:spPr>
      </p:pic>
    </p:spTree>
    <p:extLst>
      <p:ext uri="{BB962C8B-B14F-4D97-AF65-F5344CB8AC3E}">
        <p14:creationId xmlns:p14="http://schemas.microsoft.com/office/powerpoint/2010/main" val="1168497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1362</TotalTime>
  <Words>2989</Words>
  <Application>Microsoft Office PowerPoint</Application>
  <PresentationFormat>Widescreen</PresentationFormat>
  <Paragraphs>141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AMBA AHB PROTOCOL :  Tri-Slave Interconnect Design</vt:lpstr>
      <vt:lpstr>Context: SoC designs require standardized communication as complexity grows.</vt:lpstr>
      <vt:lpstr>The Solution: AMBA AHB centralizes the routing using a master-slave contract, decoders, and multiplexers.</vt:lpstr>
      <vt:lpstr>Tri-Slave Architecture</vt:lpstr>
      <vt:lpstr>The Master (The Initiator)</vt:lpstr>
      <vt:lpstr>Master input pins:</vt:lpstr>
      <vt:lpstr>Slave input pins(all 3 slaves included):</vt:lpstr>
      <vt:lpstr>Scaling of decoder:</vt:lpstr>
      <vt:lpstr>burst_type:</vt:lpstr>
      <vt:lpstr>burst_type:</vt:lpstr>
      <vt:lpstr>burst_type:</vt:lpstr>
      <vt:lpstr>burst_type:</vt:lpstr>
      <vt:lpstr>HBURST and HTRANS:</vt:lpstr>
      <vt:lpstr>The HADDR_M logic:</vt:lpstr>
      <vt:lpstr>Pipelining the MUX :</vt:lpstr>
      <vt:lpstr>Verified output waveform:</vt:lpstr>
      <vt:lpstr>Verified output waveform:</vt:lpstr>
      <vt:lpstr>Verified output waveform: Moving from one slave to other slave</vt:lpstr>
      <vt:lpstr>Elaborated Design: Schematic</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Pratyushojha275@outlook.com</dc:creator>
  <cp:lastModifiedBy>919898741496</cp:lastModifiedBy>
  <cp:revision>2</cp:revision>
  <dcterms:created xsi:type="dcterms:W3CDTF">2026-06-01T18:59:46Z</dcterms:created>
  <dcterms:modified xsi:type="dcterms:W3CDTF">2026-06-02T17:42:27Z</dcterms:modified>
</cp:coreProperties>
</file>